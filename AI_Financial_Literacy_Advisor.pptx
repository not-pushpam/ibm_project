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problem statement and the solution name. AI Financial Literacy Advisor combines three ideas from the brief into one assistant, and the prototype website is built with IBM Bob, the AI development assistant from IBM.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digital adoption grows, so do cyber threats. Most people are not experts, so the gap is not tools but accessible, understandable help at the moment of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project ideas from the brief, combined into one product so a user gets detection, coaching and learning in a single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example. The user pastes a suspicious message; the AI gives a verdict, explains the red flags in simple words, and tells the user exactly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a strength meter, the advisor looks at behaviour. Emphasise the privacy design: nothing sensitive leaves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chatbot lowers the barrier for beginners: they ask in their own words and get simple answers plus quick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four-step flow. Rule-based checks give fast, reliable signals and the AI model adds context and plain-language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stack for the prototype and can be adjusted. Stress the responsible-AI principles: privacy, explainability and honesty about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small with the analyzer because it delivers the clearest value, then add coaching and learning, then reach more people with an extension, mobile app and regional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who uses the internet can benefit, especially people who are new to it. Success is measured by learning, safer behaviour and how well people understand the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back to the brief: security and AI working together. Detect the threat, explain it simply, and educate the user so they are safer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1188720"/>
            <a:ext cx="6858000" cy="320040"/>
          </a:xfrm>
          <a:prstGeom prst="rect">
            <a:avLst/>
          </a:prstGeom>
          <a:noFill/>
          <a:ln/>
        </p:spPr>
        <p:txBody>
          <a:bodyPr wrap="square" lIns="0" tIns="0" rIns="0" bIns="0" rtlCol="0" anchor="ctr"/>
          <a:lstStyle/>
          <a:p>
            <a:pPr indent="0" marL="0">
              <a:buNone/>
            </a:pPr>
            <a:r>
              <a:rPr lang="en-US" sz="1300" b="1" spc="300" kern="0" dirty="0">
                <a:solidFill>
                  <a:srgbClr val="F5B700"/>
                </a:solidFill>
                <a:latin typeface="Calibri" pitchFamily="34" charset="0"/>
                <a:ea typeface="Calibri" pitchFamily="34" charset="-122"/>
                <a:cs typeface="Calibri" pitchFamily="34" charset="-120"/>
              </a:rPr>
              <a:t>PROBLEM STATEMENT 6  |  SECURITY + AI</a:t>
            </a:r>
            <a:endParaRPr lang="en-US" sz="1300" dirty="0"/>
          </a:p>
        </p:txBody>
      </p:sp>
      <p:sp>
        <p:nvSpPr>
          <p:cNvPr id="3" name="Text 1"/>
          <p:cNvSpPr txBox="1"/>
          <p:nvPr/>
        </p:nvSpPr>
        <p:spPr>
          <a:xfrm>
            <a:off x="548640" y="1600200"/>
            <a:ext cx="6675120" cy="15544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AI Financial Literacy Advisor</a:t>
            </a:r>
            <a:endParaRPr lang="en-US" sz="4400" dirty="0"/>
          </a:p>
        </p:txBody>
      </p:sp>
      <p:sp>
        <p:nvSpPr>
          <p:cNvPr id="4" name="Text 2"/>
          <p:cNvSpPr txBox="1"/>
          <p:nvPr/>
        </p:nvSpPr>
        <p:spPr>
          <a:xfrm>
            <a:off x="548640" y="3337560"/>
            <a:ext cx="6400800" cy="914400"/>
          </a:xfrm>
          <a:prstGeom prst="rect">
            <a:avLst/>
          </a:prstGeom>
          <a:noFill/>
          <a:ln/>
        </p:spPr>
        <p:txBody>
          <a:bodyPr wrap="square" lIns="0" tIns="0" rIns="0" bIns="0" rtlCol="0" anchor="t"/>
          <a:lstStyle/>
          <a:p>
            <a:pPr indent="0" marL="0">
              <a:buNone/>
            </a:pPr>
            <a:r>
              <a:rPr lang="en-US" sz="2000" dirty="0">
                <a:solidFill>
                  <a:srgbClr val="CADCFC"/>
                </a:solidFill>
                <a:latin typeface="Calibri" pitchFamily="34" charset="0"/>
                <a:ea typeface="Calibri" pitchFamily="34" charset="-122"/>
                <a:cs typeface="Calibri" pitchFamily="34" charset="-120"/>
              </a:rPr>
              <a:t>An AI companion that helps anyone spot scams, build safer online habits, and understand cybersecurity in simple words.</a:t>
            </a:r>
            <a:endParaRPr lang="en-US" sz="2000" dirty="0"/>
          </a:p>
        </p:txBody>
      </p:sp>
      <p:sp>
        <p:nvSpPr>
          <p:cNvPr id="5" name="Shape 3"/>
          <p:cNvSpPr/>
          <p:nvPr/>
        </p:nvSpPr>
        <p:spPr>
          <a:xfrm>
            <a:off x="548640" y="4343400"/>
            <a:ext cx="3017520" cy="457200"/>
          </a:xfrm>
          <a:prstGeom prst="roundRect">
            <a:avLst>
              <a:gd name="adj" fmla="val 50000"/>
            </a:avLst>
          </a:prstGeom>
          <a:solidFill>
            <a:srgbClr val="00A896"/>
          </a:solidFill>
          <a:ln w="12700">
            <a:solidFill>
              <a:srgbClr val="00A896"/>
            </a:solidFill>
            <a:prstDash val="solid"/>
          </a:ln>
        </p:spPr>
      </p:sp>
      <p:sp>
        <p:nvSpPr>
          <p:cNvPr id="6" name="Text 4"/>
          <p:cNvSpPr txBox="1"/>
          <p:nvPr/>
        </p:nvSpPr>
        <p:spPr>
          <a:xfrm>
            <a:off x="548640" y="4343400"/>
            <a:ext cx="30175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Built with IBM Bob</a:t>
            </a:r>
            <a:endParaRPr lang="en-US" sz="1600" dirty="0"/>
          </a:p>
        </p:txBody>
      </p:sp>
      <p:sp>
        <p:nvSpPr>
          <p:cNvPr id="7" name="Text 5"/>
          <p:cNvSpPr txBox="1"/>
          <p:nvPr/>
        </p:nvSpPr>
        <p:spPr>
          <a:xfrm>
            <a:off x="548640" y="5257800"/>
            <a:ext cx="68580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Team Cynthax   |   Pushpam, Jal Patel</a:t>
            </a:r>
            <a:endParaRPr lang="en-US" sz="1400" dirty="0"/>
          </a:p>
        </p:txBody>
      </p:sp>
      <p:sp>
        <p:nvSpPr>
          <p:cNvPr id="8" name="Shape 6"/>
          <p:cNvSpPr/>
          <p:nvPr/>
        </p:nvSpPr>
        <p:spPr>
          <a:xfrm>
            <a:off x="7498080" y="1097280"/>
            <a:ext cx="4206240" cy="4206240"/>
          </a:xfrm>
          <a:prstGeom prst="ellipse">
            <a:avLst/>
          </a:prstGeom>
          <a:solidFill>
            <a:srgbClr val="16335C"/>
          </a:solidFill>
          <a:ln w="25400">
            <a:solidFill>
              <a:srgbClr val="00A896"/>
            </a:solidFill>
            <a:prstDash val="solid"/>
          </a:ln>
        </p:spPr>
      </p:sp>
      <p:sp>
        <p:nvSpPr>
          <p:cNvPr id="9" name="Shape 7"/>
          <p:cNvSpPr/>
          <p:nvPr/>
        </p:nvSpPr>
        <p:spPr>
          <a:xfrm>
            <a:off x="8046720" y="1645920"/>
            <a:ext cx="3108960" cy="3108960"/>
          </a:xfrm>
          <a:prstGeom prst="ellipse">
            <a:avLst/>
          </a:prstGeom>
          <a:solidFill>
            <a:srgbClr val="1E4477"/>
          </a:solidFill>
          <a:ln w="19050">
            <a:solidFill>
              <a:srgbClr val="02C39A"/>
            </a:solidFill>
            <a:prstDash val="solid"/>
          </a:ln>
        </p:spPr>
      </p:sp>
      <p:pic>
        <p:nvPicPr>
          <p:cNvPr id="10" name="Image 0" descr="preencoded.png">    </p:cNvPr>
          <p:cNvPicPr>
            <a:picLocks noChangeAspect="1"/>
          </p:cNvPicPr>
          <p:nvPr/>
        </p:nvPicPr>
        <p:blipFill>
          <a:blip r:embed="rId1"/>
          <a:stretch>
            <a:fillRect/>
          </a:stretch>
        </p:blipFill>
        <p:spPr>
          <a:xfrm>
            <a:off x="8732520" y="2331720"/>
            <a:ext cx="1737360" cy="1737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85800"/>
            <a:ext cx="11109960" cy="731520"/>
          </a:xfrm>
          <a:prstGeom prst="rect">
            <a:avLst/>
          </a:prstGeom>
          <a:noFill/>
          <a:ln/>
        </p:spPr>
        <p:txBody>
          <a:bodyPr wrap="square" lIns="0" tIns="0" rIns="0" bIns="0" rtlCol="0" anchor="ctr"/>
          <a:lstStyle/>
          <a:p>
            <a:pPr indent="0" marL="0">
              <a:buNone/>
            </a:pPr>
            <a:r>
              <a:rPr lang="en-US" sz="3600" b="1" dirty="0">
                <a:solidFill>
                  <a:srgbClr val="0B1F3A"/>
                </a:solidFill>
                <a:latin typeface="Cambria" pitchFamily="34" charset="0"/>
                <a:ea typeface="Cambria" pitchFamily="34" charset="-122"/>
                <a:cs typeface="Cambria" pitchFamily="34" charset="-120"/>
              </a:rPr>
              <a:t>More people online, more threats</a:t>
            </a:r>
            <a:endParaRPr lang="en-US" sz="36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AI Financial Literacy Advisor  |  AI for Cybersecurity Awareness</a:t>
            </a:r>
            <a:endParaRPr lang="en-US" sz="1000" dirty="0"/>
          </a:p>
        </p:txBody>
      </p:sp>
      <p:sp>
        <p:nvSpPr>
          <p:cNvPr id="5" name="Text 3"/>
          <p:cNvSpPr txBox="1"/>
          <p:nvPr/>
        </p:nvSpPr>
        <p:spPr>
          <a:xfrm>
            <a:off x="10744200" y="6400800"/>
            <a:ext cx="91440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91640"/>
            <a:ext cx="3520440" cy="3200400"/>
          </a:xfrm>
          <a:prstGeom prst="roundRect">
            <a:avLst>
              <a:gd name="adj" fmla="val 342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868680" y="2011680"/>
            <a:ext cx="822960" cy="822960"/>
          </a:xfrm>
          <a:prstGeom prst="ellipse">
            <a:avLst/>
          </a:prstGeom>
          <a:solidFill>
            <a:srgbClr val="D93F45"/>
          </a:solidFill>
          <a:ln w="12700">
            <a:solidFill>
              <a:srgbClr val="D93F45"/>
            </a:solidFill>
            <a:prstDash val="solid"/>
          </a:ln>
        </p:spPr>
      </p:sp>
      <p:pic>
        <p:nvPicPr>
          <p:cNvPr id="8" name="Image 0" descr="preencoded.png">    </p:cNvPr>
          <p:cNvPicPr>
            <a:picLocks noChangeAspect="1"/>
          </p:cNvPicPr>
          <p:nvPr/>
        </p:nvPicPr>
        <p:blipFill>
          <a:blip r:embed="rId1"/>
          <a:stretch>
            <a:fillRect/>
          </a:stretch>
        </p:blipFill>
        <p:spPr>
          <a:xfrm>
            <a:off x="1099109" y="2242109"/>
            <a:ext cx="362102" cy="362102"/>
          </a:xfrm>
          <a:prstGeom prst="rect">
            <a:avLst/>
          </a:prstGeom>
        </p:spPr>
      </p:pic>
      <p:sp>
        <p:nvSpPr>
          <p:cNvPr id="9" name="Text 6"/>
          <p:cNvSpPr txBox="1"/>
          <p:nvPr/>
        </p:nvSpPr>
        <p:spPr>
          <a:xfrm>
            <a:off x="868680" y="3017520"/>
            <a:ext cx="2926080" cy="45720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Hard to spot fakes</a:t>
            </a:r>
            <a:endParaRPr lang="en-US" sz="2000" dirty="0"/>
          </a:p>
        </p:txBody>
      </p:sp>
      <p:sp>
        <p:nvSpPr>
          <p:cNvPr id="10" name="Text 7"/>
          <p:cNvSpPr txBox="1"/>
          <p:nvPr/>
        </p:nvSpPr>
        <p:spPr>
          <a:xfrm>
            <a:off x="868680" y="3520440"/>
            <a:ext cx="2926080" cy="1234440"/>
          </a:xfrm>
          <a:prstGeom prst="rect">
            <a:avLst/>
          </a:prstGeom>
          <a:noFill/>
          <a:ln/>
        </p:spPr>
        <p:txBody>
          <a:bodyPr wrap="square" lIns="0" tIns="0" rIns="0" bIns="0" rtlCol="0" anchor="t"/>
          <a:lstStyle/>
          <a:p>
            <a:pPr indent="0" marL="0">
              <a:buNone/>
            </a:pPr>
            <a:r>
              <a:rPr lang="en-US" sz="1600" dirty="0">
                <a:solidFill>
                  <a:srgbClr val="1B2A41"/>
                </a:solidFill>
                <a:latin typeface="Calibri" pitchFamily="34" charset="0"/>
                <a:ea typeface="Calibri" pitchFamily="34" charset="-122"/>
                <a:cs typeface="Calibri" pitchFamily="34" charset="-120"/>
              </a:rPr>
              <a:t>Phishing messages, fake links and fraud calls look more genuine every day, even to careful users.</a:t>
            </a:r>
            <a:endParaRPr lang="en-US" sz="1600" dirty="0"/>
          </a:p>
        </p:txBody>
      </p:sp>
      <p:sp>
        <p:nvSpPr>
          <p:cNvPr id="11" name="Shape 8"/>
          <p:cNvSpPr/>
          <p:nvPr/>
        </p:nvSpPr>
        <p:spPr>
          <a:xfrm>
            <a:off x="4343400" y="1691640"/>
            <a:ext cx="3520440" cy="3200400"/>
          </a:xfrm>
          <a:prstGeom prst="roundRect">
            <a:avLst>
              <a:gd name="adj" fmla="val 342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663440" y="2011680"/>
            <a:ext cx="822960" cy="822960"/>
          </a:xfrm>
          <a:prstGeom prst="ellipse">
            <a:avLst/>
          </a:prstGeom>
          <a:solidFill>
            <a:srgbClr val="0B1F3A"/>
          </a:solidFill>
          <a:ln w="12700">
            <a:solidFill>
              <a:srgbClr val="0B1F3A"/>
            </a:solidFill>
            <a:prstDash val="solid"/>
          </a:ln>
        </p:spPr>
      </p:sp>
      <p:pic>
        <p:nvPicPr>
          <p:cNvPr id="13" name="Image 1" descr="preencoded.png">    </p:cNvPr>
          <p:cNvPicPr>
            <a:picLocks noChangeAspect="1"/>
          </p:cNvPicPr>
          <p:nvPr/>
        </p:nvPicPr>
        <p:blipFill>
          <a:blip r:embed="rId2"/>
          <a:stretch>
            <a:fillRect/>
          </a:stretch>
        </p:blipFill>
        <p:spPr>
          <a:xfrm>
            <a:off x="4893869" y="2242109"/>
            <a:ext cx="362102" cy="362102"/>
          </a:xfrm>
          <a:prstGeom prst="rect">
            <a:avLst/>
          </a:prstGeom>
        </p:spPr>
      </p:pic>
      <p:sp>
        <p:nvSpPr>
          <p:cNvPr id="14" name="Text 10"/>
          <p:cNvSpPr txBox="1"/>
          <p:nvPr/>
        </p:nvSpPr>
        <p:spPr>
          <a:xfrm>
            <a:off x="4663440" y="3017520"/>
            <a:ext cx="2926080" cy="45720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Advice is too technical</a:t>
            </a:r>
            <a:endParaRPr lang="en-US" sz="2000" dirty="0"/>
          </a:p>
        </p:txBody>
      </p:sp>
      <p:sp>
        <p:nvSpPr>
          <p:cNvPr id="15" name="Text 11"/>
          <p:cNvSpPr txBox="1"/>
          <p:nvPr/>
        </p:nvSpPr>
        <p:spPr>
          <a:xfrm>
            <a:off x="4663440" y="3520440"/>
            <a:ext cx="2926080" cy="1234440"/>
          </a:xfrm>
          <a:prstGeom prst="rect">
            <a:avLst/>
          </a:prstGeom>
          <a:noFill/>
          <a:ln/>
        </p:spPr>
        <p:txBody>
          <a:bodyPr wrap="square" lIns="0" tIns="0" rIns="0" bIns="0" rtlCol="0" anchor="t"/>
          <a:lstStyle/>
          <a:p>
            <a:pPr indent="0" marL="0">
              <a:buNone/>
            </a:pPr>
            <a:r>
              <a:rPr lang="en-US" sz="1600" dirty="0">
                <a:solidFill>
                  <a:srgbClr val="1B2A41"/>
                </a:solidFill>
                <a:latin typeface="Calibri" pitchFamily="34" charset="0"/>
                <a:ea typeface="Calibri" pitchFamily="34" charset="-122"/>
                <a:cs typeface="Calibri" pitchFamily="34" charset="-120"/>
              </a:rPr>
              <a:t>Security guidance is full of jargon, so beginners either ignore it or never find it.</a:t>
            </a:r>
            <a:endParaRPr lang="en-US" sz="1600" dirty="0"/>
          </a:p>
        </p:txBody>
      </p:sp>
      <p:sp>
        <p:nvSpPr>
          <p:cNvPr id="16" name="Shape 12"/>
          <p:cNvSpPr/>
          <p:nvPr/>
        </p:nvSpPr>
        <p:spPr>
          <a:xfrm>
            <a:off x="8138160" y="1691640"/>
            <a:ext cx="3520440" cy="3200400"/>
          </a:xfrm>
          <a:prstGeom prst="roundRect">
            <a:avLst>
              <a:gd name="adj" fmla="val 342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458200" y="2011680"/>
            <a:ext cx="822960" cy="822960"/>
          </a:xfrm>
          <a:prstGeom prst="ellipse">
            <a:avLst/>
          </a:prstGeom>
          <a:solidFill>
            <a:srgbClr val="00A896"/>
          </a:solidFill>
          <a:ln w="12700">
            <a:solidFill>
              <a:srgbClr val="00A896"/>
            </a:solidFill>
            <a:prstDash val="solid"/>
          </a:ln>
        </p:spPr>
      </p:sp>
      <p:pic>
        <p:nvPicPr>
          <p:cNvPr id="18" name="Image 2" descr="preencoded.png">    </p:cNvPr>
          <p:cNvPicPr>
            <a:picLocks noChangeAspect="1"/>
          </p:cNvPicPr>
          <p:nvPr/>
        </p:nvPicPr>
        <p:blipFill>
          <a:blip r:embed="rId3"/>
          <a:stretch>
            <a:fillRect/>
          </a:stretch>
        </p:blipFill>
        <p:spPr>
          <a:xfrm>
            <a:off x="8688629" y="2242109"/>
            <a:ext cx="362102" cy="362102"/>
          </a:xfrm>
          <a:prstGeom prst="rect">
            <a:avLst/>
          </a:prstGeom>
        </p:spPr>
      </p:pic>
      <p:sp>
        <p:nvSpPr>
          <p:cNvPr id="19" name="Text 14"/>
          <p:cNvSpPr txBox="1"/>
          <p:nvPr/>
        </p:nvSpPr>
        <p:spPr>
          <a:xfrm>
            <a:off x="8458200" y="3017520"/>
            <a:ext cx="2926080" cy="45720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Unsafe habits stick</a:t>
            </a:r>
            <a:endParaRPr lang="en-US" sz="2000" dirty="0"/>
          </a:p>
        </p:txBody>
      </p:sp>
      <p:sp>
        <p:nvSpPr>
          <p:cNvPr id="20" name="Text 15"/>
          <p:cNvSpPr txBox="1"/>
          <p:nvPr/>
        </p:nvSpPr>
        <p:spPr>
          <a:xfrm>
            <a:off x="8458200" y="3520440"/>
            <a:ext cx="2926080" cy="1234440"/>
          </a:xfrm>
          <a:prstGeom prst="rect">
            <a:avLst/>
          </a:prstGeom>
          <a:noFill/>
          <a:ln/>
        </p:spPr>
        <p:txBody>
          <a:bodyPr wrap="square" lIns="0" tIns="0" rIns="0" bIns="0" rtlCol="0" anchor="t"/>
          <a:lstStyle/>
          <a:p>
            <a:pPr indent="0" marL="0">
              <a:buNone/>
            </a:pPr>
            <a:r>
              <a:rPr lang="en-US" sz="1600" dirty="0">
                <a:solidFill>
                  <a:srgbClr val="1B2A41"/>
                </a:solidFill>
                <a:latin typeface="Calibri" pitchFamily="34" charset="0"/>
                <a:ea typeface="Calibri" pitchFamily="34" charset="-122"/>
                <a:cs typeface="Calibri" pitchFamily="34" charset="-120"/>
              </a:rPr>
              <a:t>Weak, reused passwords and risky clicking are everyday habits that rarely get corrected in the moment.</a:t>
            </a:r>
            <a:endParaRPr lang="en-US" sz="1600" dirty="0"/>
          </a:p>
        </p:txBody>
      </p:sp>
      <p:sp>
        <p:nvSpPr>
          <p:cNvPr id="21" name="Shape 16"/>
          <p:cNvSpPr/>
          <p:nvPr/>
        </p:nvSpPr>
        <p:spPr>
          <a:xfrm>
            <a:off x="548640" y="5212080"/>
            <a:ext cx="11109960" cy="868680"/>
          </a:xfrm>
          <a:prstGeom prst="roundRect">
            <a:avLst>
              <a:gd name="adj" fmla="val 12632"/>
            </a:avLst>
          </a:prstGeom>
          <a:solidFill>
            <a:srgbClr val="0B1F3A"/>
          </a:solidFill>
          <a:ln w="12700">
            <a:solidFill>
              <a:srgbClr val="0B1F3A"/>
            </a:solidFill>
            <a:prstDash val="solid"/>
          </a:ln>
        </p:spPr>
      </p:sp>
      <p:sp>
        <p:nvSpPr>
          <p:cNvPr id="22" name="Text 17"/>
          <p:cNvSpPr txBox="1"/>
          <p:nvPr/>
        </p:nvSpPr>
        <p:spPr>
          <a:xfrm>
            <a:off x="914400" y="5212080"/>
            <a:ext cx="10378440" cy="868680"/>
          </a:xfrm>
          <a:prstGeom prst="rect">
            <a:avLst/>
          </a:prstGeom>
          <a:noFill/>
          <a:ln/>
        </p:spPr>
        <p:txBody>
          <a:bodyPr wrap="square" lIns="0" tIns="0" rIns="0" bIns="0" rtlCol="0" anchor="ctr"/>
          <a:lstStyle/>
          <a:p>
            <a:pPr indent="0" marL="0">
              <a:buNone/>
            </a:pPr>
            <a:r>
              <a:rPr lang="en-US" sz="2000" b="1" dirty="0">
                <a:solidFill>
                  <a:srgbClr val="F5B700"/>
                </a:solidFill>
                <a:latin typeface="Calibri" pitchFamily="34" charset="0"/>
                <a:ea typeface="Calibri" pitchFamily="34" charset="-122"/>
                <a:cs typeface="Calibri" pitchFamily="34" charset="-120"/>
              </a:rPr>
              <a:t>The need:  </a:t>
            </a:r>
            <a:pPr indent="0" marL="0">
              <a:buNone/>
            </a:pPr>
            <a:r>
              <a:rPr lang="en-US" sz="2000" dirty="0">
                <a:solidFill>
                  <a:srgbClr val="FFFFFF"/>
                </a:solidFill>
                <a:latin typeface="Calibri" pitchFamily="34" charset="0"/>
                <a:ea typeface="Calibri" pitchFamily="34" charset="-122"/>
                <a:cs typeface="Calibri" pitchFamily="34" charset="-120"/>
              </a:rPr>
              <a:t>instant, plain-language security help that anyone can use.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OUR SOLUTION</a:t>
            </a:r>
            <a:endParaRPr lang="en-US" sz="1200" dirty="0"/>
          </a:p>
        </p:txBody>
      </p:sp>
      <p:sp>
        <p:nvSpPr>
          <p:cNvPr id="3" name="Text 1"/>
          <p:cNvSpPr txBox="1"/>
          <p:nvPr/>
        </p:nvSpPr>
        <p:spPr>
          <a:xfrm>
            <a:off x="548640" y="685800"/>
            <a:ext cx="11109960" cy="731520"/>
          </a:xfrm>
          <a:prstGeom prst="rect">
            <a:avLst/>
          </a:prstGeom>
          <a:noFill/>
          <a:ln/>
        </p:spPr>
        <p:txBody>
          <a:bodyPr wrap="square" lIns="0" tIns="0" rIns="0" bIns="0" rtlCol="0" anchor="ctr"/>
          <a:lstStyle/>
          <a:p>
            <a:pPr indent="0" marL="0">
              <a:buNone/>
            </a:pPr>
            <a:r>
              <a:rPr lang="en-US" sz="3600" b="1" dirty="0">
                <a:solidFill>
                  <a:srgbClr val="0B1F3A"/>
                </a:solidFill>
                <a:latin typeface="Cambria" pitchFamily="34" charset="0"/>
                <a:ea typeface="Cambria" pitchFamily="34" charset="-122"/>
                <a:cs typeface="Cambria" pitchFamily="34" charset="-120"/>
              </a:rPr>
              <a:t>One assistant, three modules</a:t>
            </a:r>
            <a:endParaRPr lang="en-US" sz="36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AI Financial Literacy Advisor  |  AI for Cybersecurity Awareness</a:t>
            </a:r>
            <a:endParaRPr lang="en-US" sz="1000" dirty="0"/>
          </a:p>
        </p:txBody>
      </p:sp>
      <p:sp>
        <p:nvSpPr>
          <p:cNvPr id="5" name="Text 3"/>
          <p:cNvSpPr txBox="1"/>
          <p:nvPr/>
        </p:nvSpPr>
        <p:spPr>
          <a:xfrm>
            <a:off x="10744200" y="6400800"/>
            <a:ext cx="91440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48640" y="1691640"/>
            <a:ext cx="4114800" cy="4343400"/>
          </a:xfrm>
          <a:prstGeom prst="roundRect">
            <a:avLst>
              <a:gd name="adj" fmla="val 2667"/>
            </a:avLst>
          </a:prstGeom>
          <a:solidFill>
            <a:srgbClr val="0B1F3A"/>
          </a:solidFill>
          <a:ln w="12700">
            <a:solidFill>
              <a:srgbClr val="0B1F3A"/>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914400" y="2057400"/>
            <a:ext cx="914400" cy="914400"/>
          </a:xfrm>
          <a:prstGeom prst="ellipse">
            <a:avLst/>
          </a:prstGeom>
          <a:solidFill>
            <a:srgbClr val="00A896"/>
          </a:solidFill>
          <a:ln w="12700">
            <a:solidFill>
              <a:srgbClr val="00A896"/>
            </a:solidFill>
            <a:prstDash val="solid"/>
          </a:ln>
        </p:spPr>
      </p:sp>
      <p:pic>
        <p:nvPicPr>
          <p:cNvPr id="8" name="Image 0" descr="preencoded.png">    </p:cNvPr>
          <p:cNvPicPr>
            <a:picLocks noChangeAspect="1"/>
          </p:cNvPicPr>
          <p:nvPr/>
        </p:nvPicPr>
        <p:blipFill>
          <a:blip r:embed="rId1"/>
          <a:stretch>
            <a:fillRect/>
          </a:stretch>
        </p:blipFill>
        <p:spPr>
          <a:xfrm>
            <a:off x="1170432" y="2313432"/>
            <a:ext cx="402336" cy="402336"/>
          </a:xfrm>
          <a:prstGeom prst="rect">
            <a:avLst/>
          </a:prstGeom>
        </p:spPr>
      </p:pic>
      <p:sp>
        <p:nvSpPr>
          <p:cNvPr id="9" name="Text 6"/>
          <p:cNvSpPr txBox="1"/>
          <p:nvPr/>
        </p:nvSpPr>
        <p:spPr>
          <a:xfrm>
            <a:off x="914400" y="3246120"/>
            <a:ext cx="3383280" cy="128016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Simple, friendly security help for everyone</a:t>
            </a:r>
            <a:endParaRPr lang="en-US" sz="2600" dirty="0"/>
          </a:p>
        </p:txBody>
      </p:sp>
      <p:sp>
        <p:nvSpPr>
          <p:cNvPr id="10" name="Text 7"/>
          <p:cNvSpPr txBox="1"/>
          <p:nvPr/>
        </p:nvSpPr>
        <p:spPr>
          <a:xfrm>
            <a:off x="914400" y="4572000"/>
            <a:ext cx="3383280" cy="8229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The AI reads the situation and explains the risk in plain words. Prototype built with IBM Bob.</a:t>
            </a:r>
            <a:endParaRPr lang="en-US" sz="1500" dirty="0"/>
          </a:p>
        </p:txBody>
      </p:sp>
      <p:sp>
        <p:nvSpPr>
          <p:cNvPr id="11" name="Shape 8"/>
          <p:cNvSpPr/>
          <p:nvPr/>
        </p:nvSpPr>
        <p:spPr>
          <a:xfrm>
            <a:off x="4937760" y="1691640"/>
            <a:ext cx="6720840"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5212080" y="1984248"/>
            <a:ext cx="731520" cy="731520"/>
          </a:xfrm>
          <a:prstGeom prst="ellipse">
            <a:avLst/>
          </a:prstGeom>
          <a:solidFill>
            <a:srgbClr val="00A896"/>
          </a:solidFill>
          <a:ln w="12700">
            <a:solidFill>
              <a:srgbClr val="00A896"/>
            </a:solidFill>
            <a:prstDash val="solid"/>
          </a:ln>
        </p:spPr>
      </p:sp>
      <p:pic>
        <p:nvPicPr>
          <p:cNvPr id="13" name="Image 1" descr="preencoded.png">    </p:cNvPr>
          <p:cNvPicPr>
            <a:picLocks noChangeAspect="1"/>
          </p:cNvPicPr>
          <p:nvPr/>
        </p:nvPicPr>
        <p:blipFill>
          <a:blip r:embed="rId2"/>
          <a:stretch>
            <a:fillRect/>
          </a:stretch>
        </p:blipFill>
        <p:spPr>
          <a:xfrm>
            <a:off x="5416906" y="2189074"/>
            <a:ext cx="321869" cy="321869"/>
          </a:xfrm>
          <a:prstGeom prst="rect">
            <a:avLst/>
          </a:prstGeom>
        </p:spPr>
      </p:pic>
      <p:sp>
        <p:nvSpPr>
          <p:cNvPr id="14" name="Text 10"/>
          <p:cNvSpPr txBox="1"/>
          <p:nvPr/>
        </p:nvSpPr>
        <p:spPr>
          <a:xfrm>
            <a:off x="6217920" y="1874520"/>
            <a:ext cx="5166360" cy="36576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"Is this safe?" Analyzer</a:t>
            </a:r>
            <a:endParaRPr lang="en-US" sz="2000" dirty="0"/>
          </a:p>
        </p:txBody>
      </p:sp>
      <p:sp>
        <p:nvSpPr>
          <p:cNvPr id="15" name="Text 11"/>
          <p:cNvSpPr txBox="1"/>
          <p:nvPr/>
        </p:nvSpPr>
        <p:spPr>
          <a:xfrm>
            <a:off x="6217920" y="2286000"/>
            <a:ext cx="5166360" cy="640080"/>
          </a:xfrm>
          <a:prstGeom prst="rect">
            <a:avLst/>
          </a:prstGeom>
          <a:noFill/>
          <a:ln/>
        </p:spPr>
        <p:txBody>
          <a:bodyPr wrap="square" lIns="0" tIns="0" rIns="0" bIns="0" rtlCol="0" anchor="t"/>
          <a:lstStyle/>
          <a:p>
            <a:pPr indent="0" marL="0">
              <a:buNone/>
            </a:pPr>
            <a:r>
              <a:rPr lang="en-US" sz="1450" dirty="0">
                <a:solidFill>
                  <a:srgbClr val="1B2A41"/>
                </a:solidFill>
                <a:latin typeface="Calibri" pitchFamily="34" charset="0"/>
                <a:ea typeface="Calibri" pitchFamily="34" charset="-122"/>
                <a:cs typeface="Calibri" pitchFamily="34" charset="-120"/>
              </a:rPr>
              <a:t>Paste a message, email or link and get an instant verdict, the reasons, and what to do next.</a:t>
            </a:r>
            <a:endParaRPr lang="en-US" sz="1450" dirty="0"/>
          </a:p>
        </p:txBody>
      </p:sp>
      <p:sp>
        <p:nvSpPr>
          <p:cNvPr id="16" name="Shape 12"/>
          <p:cNvSpPr/>
          <p:nvPr/>
        </p:nvSpPr>
        <p:spPr>
          <a:xfrm>
            <a:off x="4937760" y="3200400"/>
            <a:ext cx="6720840"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5212080" y="3493008"/>
            <a:ext cx="731520" cy="731520"/>
          </a:xfrm>
          <a:prstGeom prst="ellipse">
            <a:avLst/>
          </a:prstGeom>
          <a:solidFill>
            <a:srgbClr val="C99700"/>
          </a:solidFill>
          <a:ln w="12700">
            <a:solidFill>
              <a:srgbClr val="C99700"/>
            </a:solidFill>
            <a:prstDash val="solid"/>
          </a:ln>
        </p:spPr>
      </p:sp>
      <p:pic>
        <p:nvPicPr>
          <p:cNvPr id="18" name="Image 2" descr="preencoded.png">    </p:cNvPr>
          <p:cNvPicPr>
            <a:picLocks noChangeAspect="1"/>
          </p:cNvPicPr>
          <p:nvPr/>
        </p:nvPicPr>
        <p:blipFill>
          <a:blip r:embed="rId3"/>
          <a:stretch>
            <a:fillRect/>
          </a:stretch>
        </p:blipFill>
        <p:spPr>
          <a:xfrm>
            <a:off x="5416906" y="3697834"/>
            <a:ext cx="321869" cy="321869"/>
          </a:xfrm>
          <a:prstGeom prst="rect">
            <a:avLst/>
          </a:prstGeom>
        </p:spPr>
      </p:pic>
      <p:sp>
        <p:nvSpPr>
          <p:cNvPr id="19" name="Text 14"/>
          <p:cNvSpPr txBox="1"/>
          <p:nvPr/>
        </p:nvSpPr>
        <p:spPr>
          <a:xfrm>
            <a:off x="6217920" y="3383280"/>
            <a:ext cx="5166360" cy="36576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Password + Behaviour Advisor</a:t>
            </a:r>
            <a:endParaRPr lang="en-US" sz="2000" dirty="0"/>
          </a:p>
        </p:txBody>
      </p:sp>
      <p:sp>
        <p:nvSpPr>
          <p:cNvPr id="20" name="Text 15"/>
          <p:cNvSpPr txBox="1"/>
          <p:nvPr/>
        </p:nvSpPr>
        <p:spPr>
          <a:xfrm>
            <a:off x="6217920" y="3794760"/>
            <a:ext cx="5166360" cy="640080"/>
          </a:xfrm>
          <a:prstGeom prst="rect">
            <a:avLst/>
          </a:prstGeom>
          <a:noFill/>
          <a:ln/>
        </p:spPr>
        <p:txBody>
          <a:bodyPr wrap="square" lIns="0" tIns="0" rIns="0" bIns="0" rtlCol="0" anchor="t"/>
          <a:lstStyle/>
          <a:p>
            <a:pPr indent="0" marL="0">
              <a:buNone/>
            </a:pPr>
            <a:r>
              <a:rPr lang="en-US" sz="1450" dirty="0">
                <a:solidFill>
                  <a:srgbClr val="1B2A41"/>
                </a:solidFill>
                <a:latin typeface="Calibri" pitchFamily="34" charset="0"/>
                <a:ea typeface="Calibri" pitchFamily="34" charset="-122"/>
                <a:cs typeface="Calibri" pitchFamily="34" charset="-120"/>
              </a:rPr>
              <a:t>Checks password strength and coaches better everyday habits like 2-step login and no reuse.</a:t>
            </a:r>
            <a:endParaRPr lang="en-US" sz="1450" dirty="0"/>
          </a:p>
        </p:txBody>
      </p:sp>
      <p:sp>
        <p:nvSpPr>
          <p:cNvPr id="21" name="Shape 16"/>
          <p:cNvSpPr/>
          <p:nvPr/>
        </p:nvSpPr>
        <p:spPr>
          <a:xfrm>
            <a:off x="4937760" y="4709160"/>
            <a:ext cx="6720840"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2" name="Shape 17"/>
          <p:cNvSpPr/>
          <p:nvPr/>
        </p:nvSpPr>
        <p:spPr>
          <a:xfrm>
            <a:off x="5212080" y="5001768"/>
            <a:ext cx="731520" cy="731520"/>
          </a:xfrm>
          <a:prstGeom prst="ellipse">
            <a:avLst/>
          </a:prstGeom>
          <a:solidFill>
            <a:srgbClr val="16335C"/>
          </a:solidFill>
          <a:ln w="12700">
            <a:solidFill>
              <a:srgbClr val="16335C"/>
            </a:solidFill>
            <a:prstDash val="solid"/>
          </a:ln>
        </p:spPr>
      </p:sp>
      <p:pic>
        <p:nvPicPr>
          <p:cNvPr id="23" name="Image 3" descr="preencoded.png">    </p:cNvPr>
          <p:cNvPicPr>
            <a:picLocks noChangeAspect="1"/>
          </p:cNvPicPr>
          <p:nvPr/>
        </p:nvPicPr>
        <p:blipFill>
          <a:blip r:embed="rId4"/>
          <a:stretch>
            <a:fillRect/>
          </a:stretch>
        </p:blipFill>
        <p:spPr>
          <a:xfrm>
            <a:off x="5416906" y="5206594"/>
            <a:ext cx="321869" cy="321869"/>
          </a:xfrm>
          <a:prstGeom prst="rect">
            <a:avLst/>
          </a:prstGeom>
        </p:spPr>
      </p:pic>
      <p:sp>
        <p:nvSpPr>
          <p:cNvPr id="24" name="Text 18"/>
          <p:cNvSpPr txBox="1"/>
          <p:nvPr/>
        </p:nvSpPr>
        <p:spPr>
          <a:xfrm>
            <a:off x="6217920" y="4892040"/>
            <a:ext cx="5166360" cy="36576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Cyber Awareness Chatbot</a:t>
            </a:r>
            <a:endParaRPr lang="en-US" sz="2000" dirty="0"/>
          </a:p>
        </p:txBody>
      </p:sp>
      <p:sp>
        <p:nvSpPr>
          <p:cNvPr id="25" name="Text 19"/>
          <p:cNvSpPr txBox="1"/>
          <p:nvPr/>
        </p:nvSpPr>
        <p:spPr>
          <a:xfrm>
            <a:off x="6217920" y="5303520"/>
            <a:ext cx="5166360" cy="640080"/>
          </a:xfrm>
          <a:prstGeom prst="rect">
            <a:avLst/>
          </a:prstGeom>
          <a:noFill/>
          <a:ln/>
        </p:spPr>
        <p:txBody>
          <a:bodyPr wrap="square" lIns="0" tIns="0" rIns="0" bIns="0" rtlCol="0" anchor="t"/>
          <a:lstStyle/>
          <a:p>
            <a:pPr indent="0" marL="0">
              <a:buNone/>
            </a:pPr>
            <a:r>
              <a:rPr lang="en-US" sz="1450" dirty="0">
                <a:solidFill>
                  <a:srgbClr val="1B2A41"/>
                </a:solidFill>
                <a:latin typeface="Calibri" pitchFamily="34" charset="0"/>
                <a:ea typeface="Calibri" pitchFamily="34" charset="-122"/>
                <a:cs typeface="Calibri" pitchFamily="34" charset="-120"/>
              </a:rPr>
              <a:t>Beginner-friendly Q&amp;A and mini-lessons that answer any security question simply.</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MODULE 1</a:t>
            </a:r>
            <a:endParaRPr lang="en-US" sz="1200" dirty="0"/>
          </a:p>
        </p:txBody>
      </p:sp>
      <p:sp>
        <p:nvSpPr>
          <p:cNvPr id="3" name="Text 1"/>
          <p:cNvSpPr txBox="1"/>
          <p:nvPr/>
        </p:nvSpPr>
        <p:spPr>
          <a:xfrm>
            <a:off x="548640" y="685800"/>
            <a:ext cx="11109960" cy="731520"/>
          </a:xfrm>
          <a:prstGeom prst="rect">
            <a:avLst/>
          </a:prstGeom>
          <a:noFill/>
          <a:ln/>
        </p:spPr>
        <p:txBody>
          <a:bodyPr wrap="square" lIns="0" tIns="0" rIns="0" bIns="0" rtlCol="0" anchor="ctr"/>
          <a:lstStyle/>
          <a:p>
            <a:pPr indent="0" marL="0">
              <a:buNone/>
            </a:pPr>
            <a:r>
              <a:rPr lang="en-US" sz="3600" b="1" dirty="0">
                <a:solidFill>
                  <a:srgbClr val="0B1F3A"/>
                </a:solidFill>
                <a:latin typeface="Cambria" pitchFamily="34" charset="0"/>
                <a:ea typeface="Cambria" pitchFamily="34" charset="-122"/>
                <a:cs typeface="Cambria" pitchFamily="34" charset="-120"/>
              </a:rPr>
              <a:t>"Is this safe?" Analyzer</a:t>
            </a:r>
            <a:endParaRPr lang="en-US" sz="36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AI Financial Literacy Advisor  |  AI for Cybersecurity Awareness</a:t>
            </a:r>
            <a:endParaRPr lang="en-US" sz="1000" dirty="0"/>
          </a:p>
        </p:txBody>
      </p:sp>
      <p:sp>
        <p:nvSpPr>
          <p:cNvPr id="5" name="Text 3"/>
          <p:cNvSpPr txBox="1"/>
          <p:nvPr/>
        </p:nvSpPr>
        <p:spPr>
          <a:xfrm>
            <a:off x="10744200" y="6400800"/>
            <a:ext cx="91440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4</a:t>
            </a:r>
            <a:endParaRPr lang="en-US" sz="1000" dirty="0"/>
          </a:p>
        </p:txBody>
      </p:sp>
      <p:sp>
        <p:nvSpPr>
          <p:cNvPr id="6" name="Text 4"/>
          <p:cNvSpPr txBox="1"/>
          <p:nvPr/>
        </p:nvSpPr>
        <p:spPr>
          <a:xfrm>
            <a:off x="548640" y="1691640"/>
            <a:ext cx="4206240" cy="274320"/>
          </a:xfrm>
          <a:prstGeom prst="rect">
            <a:avLst/>
          </a:prstGeom>
          <a:noFill/>
          <a:ln/>
        </p:spPr>
        <p:txBody>
          <a:bodyPr wrap="square" lIns="0" tIns="0" rIns="0" bIns="0" rtlCol="0" anchor="ctr"/>
          <a:lstStyle/>
          <a:p>
            <a:pPr indent="0" marL="0">
              <a:buNone/>
            </a:pPr>
            <a:r>
              <a:rPr lang="en-US" sz="1200" b="1" spc="200" kern="0" dirty="0">
                <a:solidFill>
                  <a:srgbClr val="5B6B82"/>
                </a:solidFill>
                <a:latin typeface="Calibri" pitchFamily="34" charset="0"/>
                <a:ea typeface="Calibri" pitchFamily="34" charset="-122"/>
                <a:cs typeface="Calibri" pitchFamily="34" charset="-120"/>
              </a:rPr>
              <a:t>USER PASTES A MESSAGE</a:t>
            </a:r>
            <a:endParaRPr lang="en-US" sz="1200" dirty="0"/>
          </a:p>
        </p:txBody>
      </p:sp>
      <p:sp>
        <p:nvSpPr>
          <p:cNvPr id="7" name="Shape 5"/>
          <p:cNvSpPr/>
          <p:nvPr/>
        </p:nvSpPr>
        <p:spPr>
          <a:xfrm>
            <a:off x="548640" y="2057400"/>
            <a:ext cx="4206240" cy="2194560"/>
          </a:xfrm>
          <a:prstGeom prst="roundRect">
            <a:avLst>
              <a:gd name="adj" fmla="val 5000"/>
            </a:avLst>
          </a:prstGeom>
          <a:solidFill>
            <a:srgbClr val="FDECEC"/>
          </a:solidFill>
          <a:ln w="12700">
            <a:solidFill>
              <a:srgbClr val="F3B5B7"/>
            </a:solidFill>
            <a:prstDash val="solid"/>
          </a:ln>
        </p:spPr>
      </p:sp>
      <p:sp>
        <p:nvSpPr>
          <p:cNvPr id="8" name="Text 6"/>
          <p:cNvSpPr txBox="1"/>
          <p:nvPr/>
        </p:nvSpPr>
        <p:spPr>
          <a:xfrm>
            <a:off x="822960" y="2194560"/>
            <a:ext cx="3657600" cy="1920240"/>
          </a:xfrm>
          <a:prstGeom prst="rect">
            <a:avLst/>
          </a:prstGeom>
          <a:noFill/>
          <a:ln/>
        </p:spPr>
        <p:txBody>
          <a:bodyPr wrap="square" lIns="0" tIns="0" rIns="0" bIns="0" rtlCol="0" anchor="ctr"/>
          <a:lstStyle/>
          <a:p>
            <a:pPr indent="0" marL="0">
              <a:buNone/>
            </a:pPr>
            <a:r>
              <a:rPr lang="en-US" sz="1700" i="1" dirty="0">
                <a:solidFill>
                  <a:srgbClr val="1B2A41"/>
                </a:solidFill>
                <a:latin typeface="Calibri" pitchFamily="34" charset="0"/>
                <a:ea typeface="Calibri" pitchFamily="34" charset="-122"/>
                <a:cs typeface="Calibri" pitchFamily="34" charset="-120"/>
              </a:rPr>
              <a:t>Dear customer, your account will be blocked today. Verify your KYC now: bit.ly/secure-kyc-update</a:t>
            </a:r>
            <a:endParaRPr lang="en-US" sz="1700" dirty="0"/>
          </a:p>
        </p:txBody>
      </p:sp>
      <p:sp>
        <p:nvSpPr>
          <p:cNvPr id="9" name="Text 7"/>
          <p:cNvSpPr txBox="1"/>
          <p:nvPr/>
        </p:nvSpPr>
        <p:spPr>
          <a:xfrm>
            <a:off x="548640" y="4434840"/>
            <a:ext cx="4206240" cy="457200"/>
          </a:xfrm>
          <a:prstGeom prst="rect">
            <a:avLst/>
          </a:prstGeom>
          <a:noFill/>
          <a:ln/>
        </p:spPr>
        <p:txBody>
          <a:bodyPr wrap="square" lIns="0" tIns="0" rIns="0" bIns="0" rtlCol="0" anchor="t"/>
          <a:lstStyle/>
          <a:p>
            <a:pPr indent="0" marL="0">
              <a:buNone/>
            </a:pPr>
            <a:r>
              <a:rPr lang="en-US" sz="1300" dirty="0">
                <a:solidFill>
                  <a:srgbClr val="5B6B82"/>
                </a:solidFill>
                <a:latin typeface="Calibri" pitchFamily="34" charset="0"/>
                <a:ea typeface="Calibri" pitchFamily="34" charset="-122"/>
                <a:cs typeface="Calibri" pitchFamily="34" charset="-120"/>
              </a:rPr>
              <a:t>Works on SMS / WhatsApp texts, emails and links</a:t>
            </a:r>
            <a:endParaRPr lang="en-US" sz="1300" dirty="0"/>
          </a:p>
        </p:txBody>
      </p:sp>
      <p:sp>
        <p:nvSpPr>
          <p:cNvPr id="10" name="Shape 8"/>
          <p:cNvSpPr/>
          <p:nvPr/>
        </p:nvSpPr>
        <p:spPr>
          <a:xfrm>
            <a:off x="4846320" y="2926080"/>
            <a:ext cx="594360" cy="594360"/>
          </a:xfrm>
          <a:prstGeom prst="ellipse">
            <a:avLst/>
          </a:prstGeom>
          <a:solidFill>
            <a:srgbClr val="00A896"/>
          </a:solidFill>
          <a:ln w="12700">
            <a:solidFill>
              <a:srgbClr val="00A896"/>
            </a:solidFill>
            <a:prstDash val="solid"/>
          </a:ln>
        </p:spPr>
      </p:sp>
      <p:pic>
        <p:nvPicPr>
          <p:cNvPr id="11" name="Image 0" descr="preencoded.png">    </p:cNvPr>
          <p:cNvPicPr>
            <a:picLocks noChangeAspect="1"/>
          </p:cNvPicPr>
          <p:nvPr/>
        </p:nvPicPr>
        <p:blipFill>
          <a:blip r:embed="rId1"/>
          <a:stretch>
            <a:fillRect/>
          </a:stretch>
        </p:blipFill>
        <p:spPr>
          <a:xfrm>
            <a:off x="5001768" y="3081528"/>
            <a:ext cx="283464" cy="283464"/>
          </a:xfrm>
          <a:prstGeom prst="rect">
            <a:avLst/>
          </a:prstGeom>
        </p:spPr>
      </p:pic>
      <p:sp>
        <p:nvSpPr>
          <p:cNvPr id="12" name="Shape 9"/>
          <p:cNvSpPr/>
          <p:nvPr/>
        </p:nvSpPr>
        <p:spPr>
          <a:xfrm>
            <a:off x="5623560" y="1691640"/>
            <a:ext cx="6035040" cy="4343400"/>
          </a:xfrm>
          <a:prstGeom prst="roundRect">
            <a:avLst>
              <a:gd name="adj" fmla="val 252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5943600" y="1920240"/>
            <a:ext cx="3931920" cy="457200"/>
          </a:xfrm>
          <a:prstGeom prst="roundRect">
            <a:avLst>
              <a:gd name="adj" fmla="val 50000"/>
            </a:avLst>
          </a:prstGeom>
          <a:solidFill>
            <a:srgbClr val="D93F45"/>
          </a:solidFill>
          <a:ln w="12700">
            <a:solidFill>
              <a:srgbClr val="D93F45"/>
            </a:solidFill>
            <a:prstDash val="solid"/>
          </a:ln>
        </p:spPr>
      </p:sp>
      <p:sp>
        <p:nvSpPr>
          <p:cNvPr id="14" name="Text 11"/>
          <p:cNvSpPr txBox="1"/>
          <p:nvPr/>
        </p:nvSpPr>
        <p:spPr>
          <a:xfrm>
            <a:off x="5943600" y="1920240"/>
            <a:ext cx="3931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HIGH RISK: likely phishing</a:t>
            </a:r>
            <a:endParaRPr lang="en-US" sz="1600" dirty="0"/>
          </a:p>
        </p:txBody>
      </p:sp>
      <p:sp>
        <p:nvSpPr>
          <p:cNvPr id="15" name="Text 12"/>
          <p:cNvSpPr txBox="1"/>
          <p:nvPr/>
        </p:nvSpPr>
        <p:spPr>
          <a:xfrm>
            <a:off x="5943600" y="2560320"/>
            <a:ext cx="5029200" cy="32004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Why it looks unsafe</a:t>
            </a:r>
            <a:endParaRPr lang="en-US" sz="1800" dirty="0"/>
          </a:p>
        </p:txBody>
      </p:sp>
      <p:sp>
        <p:nvSpPr>
          <p:cNvPr id="16" name="Text 13"/>
          <p:cNvSpPr txBox="1"/>
          <p:nvPr/>
        </p:nvSpPr>
        <p:spPr>
          <a:xfrm>
            <a:off x="5943600" y="2926080"/>
            <a:ext cx="5120640" cy="1051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B2A41"/>
                </a:solidFill>
                <a:latin typeface="Calibri" pitchFamily="34" charset="0"/>
                <a:ea typeface="Calibri" pitchFamily="34" charset="-122"/>
                <a:cs typeface="Calibri" pitchFamily="34" charset="-120"/>
              </a:rPr>
              <a:t>Creates false urgency ("blocked today")</a:t>
            </a:r>
            <a:endParaRPr lang="en-US" sz="1500" dirty="0"/>
          </a:p>
          <a:p>
            <a:pPr marL="342900" indent="-342900">
              <a:spcAft>
                <a:spcPts val="400"/>
              </a:spcAft>
              <a:buSzPct val="100000"/>
              <a:buChar char="•"/>
            </a:pPr>
            <a:r>
              <a:rPr lang="en-US" sz="1500" dirty="0">
                <a:solidFill>
                  <a:srgbClr val="1B2A41"/>
                </a:solidFill>
                <a:latin typeface="Calibri" pitchFamily="34" charset="0"/>
                <a:ea typeface="Calibri" pitchFamily="34" charset="-122"/>
                <a:cs typeface="Calibri" pitchFamily="34" charset="-120"/>
              </a:rPr>
              <a:t>Shortened link hides the real destination</a:t>
            </a:r>
            <a:endParaRPr lang="en-US" sz="1500" dirty="0"/>
          </a:p>
          <a:p>
            <a:pPr marL="342900" indent="-342900">
              <a:spcAft>
                <a:spcPts val="400"/>
              </a:spcAft>
              <a:buSzPct val="100000"/>
              <a:buChar char="•"/>
            </a:pPr>
            <a:r>
              <a:rPr lang="en-US" sz="1500" dirty="0">
                <a:solidFill>
                  <a:srgbClr val="1B2A41"/>
                </a:solidFill>
                <a:latin typeface="Calibri" pitchFamily="34" charset="0"/>
                <a:ea typeface="Calibri" pitchFamily="34" charset="-122"/>
                <a:cs typeface="Calibri" pitchFamily="34" charset="-120"/>
              </a:rPr>
              <a:t>Asks you to verify personal or bank details</a:t>
            </a:r>
            <a:endParaRPr lang="en-US" sz="1500" dirty="0"/>
          </a:p>
        </p:txBody>
      </p:sp>
      <p:sp>
        <p:nvSpPr>
          <p:cNvPr id="17" name="Text 14"/>
          <p:cNvSpPr txBox="1"/>
          <p:nvPr/>
        </p:nvSpPr>
        <p:spPr>
          <a:xfrm>
            <a:off x="5943600" y="4114800"/>
            <a:ext cx="5029200" cy="320040"/>
          </a:xfrm>
          <a:prstGeom prst="rect">
            <a:avLst/>
          </a:prstGeom>
          <a:noFill/>
          <a:ln/>
        </p:spPr>
        <p:txBody>
          <a:bodyPr wrap="square" lIns="0" tIns="0" rIns="0" bIns="0" rtlCol="0" anchor="ctr"/>
          <a:lstStyle/>
          <a:p>
            <a:pPr indent="0" marL="0">
              <a:buNone/>
            </a:pPr>
            <a:r>
              <a:rPr lang="en-US" sz="1800" b="1" dirty="0">
                <a:solidFill>
                  <a:srgbClr val="0B1F3A"/>
                </a:solidFill>
                <a:latin typeface="Cambria" pitchFamily="34" charset="0"/>
                <a:ea typeface="Cambria" pitchFamily="34" charset="-122"/>
                <a:cs typeface="Cambria" pitchFamily="34" charset="-120"/>
              </a:rPr>
              <a:t>What you should do</a:t>
            </a:r>
            <a:endParaRPr lang="en-US" sz="1800" dirty="0"/>
          </a:p>
        </p:txBody>
      </p:sp>
      <p:sp>
        <p:nvSpPr>
          <p:cNvPr id="18" name="Text 15"/>
          <p:cNvSpPr txBox="1"/>
          <p:nvPr/>
        </p:nvSpPr>
        <p:spPr>
          <a:xfrm>
            <a:off x="5943600" y="4480560"/>
            <a:ext cx="5120640" cy="1051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B2A41"/>
                </a:solidFill>
                <a:latin typeface="Calibri" pitchFamily="34" charset="0"/>
                <a:ea typeface="Calibri" pitchFamily="34" charset="-122"/>
                <a:cs typeface="Calibri" pitchFamily="34" charset="-120"/>
              </a:rPr>
              <a:t>Don't click the link or share any OTP</a:t>
            </a:r>
            <a:endParaRPr lang="en-US" sz="1500" dirty="0"/>
          </a:p>
          <a:p>
            <a:pPr marL="342900" indent="-342900">
              <a:spcAft>
                <a:spcPts val="400"/>
              </a:spcAft>
              <a:buSzPct val="100000"/>
              <a:buChar char="•"/>
            </a:pPr>
            <a:r>
              <a:rPr lang="en-US" sz="1500" dirty="0">
                <a:solidFill>
                  <a:srgbClr val="1B2A41"/>
                </a:solidFill>
                <a:latin typeface="Calibri" pitchFamily="34" charset="0"/>
                <a:ea typeface="Calibri" pitchFamily="34" charset="-122"/>
                <a:cs typeface="Calibri" pitchFamily="34" charset="-120"/>
              </a:rPr>
              <a:t>Contact your bank using its official number</a:t>
            </a:r>
            <a:endParaRPr lang="en-US" sz="1500" dirty="0"/>
          </a:p>
          <a:p>
            <a:pPr marL="342900" indent="-342900">
              <a:spcAft>
                <a:spcPts val="400"/>
              </a:spcAft>
              <a:buSzPct val="100000"/>
              <a:buChar char="•"/>
            </a:pPr>
            <a:r>
              <a:rPr lang="en-US" sz="1500" dirty="0">
                <a:solidFill>
                  <a:srgbClr val="1B2A41"/>
                </a:solidFill>
                <a:latin typeface="Calibri" pitchFamily="34" charset="0"/>
                <a:ea typeface="Calibri" pitchFamily="34" charset="-122"/>
                <a:cs typeface="Calibri" pitchFamily="34" charset="-120"/>
              </a:rPr>
              <a:t>Delete or report the message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MODULE 2</a:t>
            </a:r>
            <a:endParaRPr lang="en-US" sz="1200" dirty="0"/>
          </a:p>
        </p:txBody>
      </p:sp>
      <p:sp>
        <p:nvSpPr>
          <p:cNvPr id="3" name="Text 1"/>
          <p:cNvSpPr txBox="1"/>
          <p:nvPr/>
        </p:nvSpPr>
        <p:spPr>
          <a:xfrm>
            <a:off x="548640" y="685800"/>
            <a:ext cx="11109960" cy="731520"/>
          </a:xfrm>
          <a:prstGeom prst="rect">
            <a:avLst/>
          </a:prstGeom>
          <a:noFill/>
          <a:ln/>
        </p:spPr>
        <p:txBody>
          <a:bodyPr wrap="square" lIns="0" tIns="0" rIns="0" bIns="0" rtlCol="0" anchor="ctr"/>
          <a:lstStyle/>
          <a:p>
            <a:pPr indent="0" marL="0">
              <a:buNone/>
            </a:pPr>
            <a:r>
              <a:rPr lang="en-US" sz="3600" b="1" dirty="0">
                <a:solidFill>
                  <a:srgbClr val="0B1F3A"/>
                </a:solidFill>
                <a:latin typeface="Cambria" pitchFamily="34" charset="0"/>
                <a:ea typeface="Cambria" pitchFamily="34" charset="-122"/>
                <a:cs typeface="Cambria" pitchFamily="34" charset="-120"/>
              </a:rPr>
              <a:t>Password + Behaviour Advisor</a:t>
            </a:r>
            <a:endParaRPr lang="en-US" sz="36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AI Financial Literacy Advisor  |  AI for Cybersecurity Awareness</a:t>
            </a:r>
            <a:endParaRPr lang="en-US" sz="1000" dirty="0"/>
          </a:p>
        </p:txBody>
      </p:sp>
      <p:sp>
        <p:nvSpPr>
          <p:cNvPr id="5" name="Text 3"/>
          <p:cNvSpPr txBox="1"/>
          <p:nvPr/>
        </p:nvSpPr>
        <p:spPr>
          <a:xfrm>
            <a:off x="10744200" y="6400800"/>
            <a:ext cx="91440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691640"/>
            <a:ext cx="4754880" cy="4343400"/>
          </a:xfrm>
          <a:prstGeom prst="roundRect">
            <a:avLst>
              <a:gd name="adj" fmla="val 2526"/>
            </a:avLst>
          </a:prstGeom>
          <a:solidFill>
            <a:srgbClr val="0B1F3A"/>
          </a:solidFill>
          <a:ln w="12700">
            <a:solidFill>
              <a:srgbClr val="0B1F3A"/>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914400" y="1920240"/>
            <a:ext cx="3657600" cy="274320"/>
          </a:xfrm>
          <a:prstGeom prst="rect">
            <a:avLst/>
          </a:prstGeom>
          <a:noFill/>
          <a:ln/>
        </p:spPr>
        <p:txBody>
          <a:bodyPr wrap="square" lIns="0" tIns="0" rIns="0" bIns="0" rtlCol="0" anchor="ctr"/>
          <a:lstStyle/>
          <a:p>
            <a:pPr indent="0" marL="0">
              <a:buNone/>
            </a:pPr>
            <a:r>
              <a:rPr lang="en-US" sz="1200" b="1" spc="300" kern="0" dirty="0">
                <a:solidFill>
                  <a:srgbClr val="F5B700"/>
                </a:solidFill>
                <a:latin typeface="Calibri" pitchFamily="34" charset="0"/>
                <a:ea typeface="Calibri" pitchFamily="34" charset="-122"/>
                <a:cs typeface="Calibri" pitchFamily="34" charset="-120"/>
              </a:rPr>
              <a:t>SAMPLE VIEW</a:t>
            </a:r>
            <a:endParaRPr lang="en-US" sz="1200" dirty="0"/>
          </a:p>
        </p:txBody>
      </p:sp>
      <p:sp>
        <p:nvSpPr>
          <p:cNvPr id="8" name="Shape 6"/>
          <p:cNvSpPr/>
          <p:nvPr/>
        </p:nvSpPr>
        <p:spPr>
          <a:xfrm>
            <a:off x="914400" y="2331720"/>
            <a:ext cx="4023360" cy="640080"/>
          </a:xfrm>
          <a:prstGeom prst="roundRect">
            <a:avLst>
              <a:gd name="adj" fmla="val 14286"/>
            </a:avLst>
          </a:prstGeom>
          <a:solidFill>
            <a:srgbClr val="16335C"/>
          </a:solidFill>
          <a:ln w="12700">
            <a:solidFill>
              <a:srgbClr val="2E5A94"/>
            </a:solidFill>
            <a:prstDash val="solid"/>
          </a:ln>
        </p:spPr>
      </p:sp>
      <p:sp>
        <p:nvSpPr>
          <p:cNvPr id="9" name="Text 7"/>
          <p:cNvSpPr txBox="1"/>
          <p:nvPr/>
        </p:nvSpPr>
        <p:spPr>
          <a:xfrm>
            <a:off x="1097280" y="2331720"/>
            <a:ext cx="3657600" cy="64008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914400" y="3200400"/>
            <a:ext cx="914400" cy="146304"/>
          </a:xfrm>
          <a:prstGeom prst="roundRect">
            <a:avLst>
              <a:gd name="adj" fmla="val 50000"/>
            </a:avLst>
          </a:prstGeom>
          <a:solidFill>
            <a:srgbClr val="F5B700"/>
          </a:solidFill>
          <a:ln w="12700">
            <a:solidFill>
              <a:srgbClr val="F5B700"/>
            </a:solidFill>
            <a:prstDash val="solid"/>
          </a:ln>
        </p:spPr>
      </p:sp>
      <p:sp>
        <p:nvSpPr>
          <p:cNvPr id="11" name="Shape 9"/>
          <p:cNvSpPr/>
          <p:nvPr/>
        </p:nvSpPr>
        <p:spPr>
          <a:xfrm>
            <a:off x="1938528" y="3200400"/>
            <a:ext cx="914400" cy="146304"/>
          </a:xfrm>
          <a:prstGeom prst="roundRect">
            <a:avLst>
              <a:gd name="adj" fmla="val 50000"/>
            </a:avLst>
          </a:prstGeom>
          <a:solidFill>
            <a:srgbClr val="F5B700"/>
          </a:solidFill>
          <a:ln w="12700">
            <a:solidFill>
              <a:srgbClr val="F5B700"/>
            </a:solidFill>
            <a:prstDash val="solid"/>
          </a:ln>
        </p:spPr>
      </p:sp>
      <p:sp>
        <p:nvSpPr>
          <p:cNvPr id="12" name="Shape 10"/>
          <p:cNvSpPr/>
          <p:nvPr/>
        </p:nvSpPr>
        <p:spPr>
          <a:xfrm>
            <a:off x="2962656" y="3200400"/>
            <a:ext cx="914400" cy="146304"/>
          </a:xfrm>
          <a:prstGeom prst="roundRect">
            <a:avLst>
              <a:gd name="adj" fmla="val 50000"/>
            </a:avLst>
          </a:prstGeom>
          <a:solidFill>
            <a:srgbClr val="2E5A94"/>
          </a:solidFill>
          <a:ln w="12700">
            <a:solidFill>
              <a:srgbClr val="2E5A94"/>
            </a:solidFill>
            <a:prstDash val="solid"/>
          </a:ln>
        </p:spPr>
      </p:sp>
      <p:sp>
        <p:nvSpPr>
          <p:cNvPr id="13" name="Shape 11"/>
          <p:cNvSpPr/>
          <p:nvPr/>
        </p:nvSpPr>
        <p:spPr>
          <a:xfrm>
            <a:off x="3986784" y="3200400"/>
            <a:ext cx="914400" cy="146304"/>
          </a:xfrm>
          <a:prstGeom prst="roundRect">
            <a:avLst>
              <a:gd name="adj" fmla="val 50000"/>
            </a:avLst>
          </a:prstGeom>
          <a:solidFill>
            <a:srgbClr val="2E5A94"/>
          </a:solidFill>
          <a:ln w="12700">
            <a:solidFill>
              <a:srgbClr val="2E5A94"/>
            </a:solidFill>
            <a:prstDash val="solid"/>
          </a:ln>
        </p:spPr>
      </p:sp>
      <p:sp>
        <p:nvSpPr>
          <p:cNvPr id="14" name="Text 12"/>
          <p:cNvSpPr txBox="1"/>
          <p:nvPr/>
        </p:nvSpPr>
        <p:spPr>
          <a:xfrm>
            <a:off x="914400" y="3456432"/>
            <a:ext cx="40233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Strength: Moderate</a:t>
            </a:r>
            <a:endParaRPr lang="en-US" sz="1700" dirty="0"/>
          </a:p>
        </p:txBody>
      </p:sp>
      <p:sp>
        <p:nvSpPr>
          <p:cNvPr id="15" name="Text 13"/>
          <p:cNvSpPr txBox="1"/>
          <p:nvPr/>
        </p:nvSpPr>
        <p:spPr>
          <a:xfrm>
            <a:off x="914400" y="3886200"/>
            <a:ext cx="4023360" cy="9144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CADCFC"/>
                </a:solidFill>
                <a:latin typeface="Calibri" pitchFamily="34" charset="0"/>
                <a:ea typeface="Calibri" pitchFamily="34" charset="-122"/>
                <a:cs typeface="Calibri" pitchFamily="34" charset="-120"/>
              </a:rPr>
              <a:t>Use 12 or more characters</a:t>
            </a:r>
            <a:endParaRPr lang="en-US" sz="1400" dirty="0"/>
          </a:p>
          <a:p>
            <a:pPr marL="342900" indent="-342900">
              <a:spcAft>
                <a:spcPts val="300"/>
              </a:spcAft>
              <a:buSzPct val="100000"/>
              <a:buChar char="•"/>
            </a:pPr>
            <a:r>
              <a:rPr lang="en-US" sz="1400" dirty="0">
                <a:solidFill>
                  <a:srgbClr val="CADCFC"/>
                </a:solidFill>
                <a:latin typeface="Calibri" pitchFamily="34" charset="0"/>
                <a:ea typeface="Calibri" pitchFamily="34" charset="-122"/>
                <a:cs typeface="Calibri" pitchFamily="34" charset="-120"/>
              </a:rPr>
              <a:t>Avoid names and birth years</a:t>
            </a:r>
            <a:endParaRPr lang="en-US" sz="1400" dirty="0"/>
          </a:p>
          <a:p>
            <a:pPr marL="342900" indent="-342900">
              <a:spcAft>
                <a:spcPts val="300"/>
              </a:spcAft>
              <a:buSzPct val="100000"/>
              <a:buChar char="•"/>
            </a:pPr>
            <a:r>
              <a:rPr lang="en-US" sz="1400" dirty="0">
                <a:solidFill>
                  <a:srgbClr val="CADCFC"/>
                </a:solidFill>
                <a:latin typeface="Calibri" pitchFamily="34" charset="0"/>
                <a:ea typeface="Calibri" pitchFamily="34" charset="-122"/>
                <a:cs typeface="Calibri" pitchFamily="34" charset="-120"/>
              </a:rPr>
              <a:t>Don't reuse it on other sites</a:t>
            </a:r>
            <a:endParaRPr lang="en-US" sz="1400" dirty="0"/>
          </a:p>
        </p:txBody>
      </p:sp>
      <p:sp>
        <p:nvSpPr>
          <p:cNvPr id="16" name="Text 14"/>
          <p:cNvSpPr txBox="1"/>
          <p:nvPr/>
        </p:nvSpPr>
        <p:spPr>
          <a:xfrm>
            <a:off x="914400" y="5074920"/>
            <a:ext cx="40233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Safe-habits score</a:t>
            </a:r>
            <a:endParaRPr lang="en-US" sz="1300" dirty="0"/>
          </a:p>
        </p:txBody>
      </p:sp>
      <p:sp>
        <p:nvSpPr>
          <p:cNvPr id="17" name="Shape 15"/>
          <p:cNvSpPr/>
          <p:nvPr/>
        </p:nvSpPr>
        <p:spPr>
          <a:xfrm>
            <a:off x="914400" y="5440680"/>
            <a:ext cx="4023360" cy="182880"/>
          </a:xfrm>
          <a:prstGeom prst="roundRect">
            <a:avLst>
              <a:gd name="adj" fmla="val 50000"/>
            </a:avLst>
          </a:prstGeom>
          <a:solidFill>
            <a:srgbClr val="2E5A94"/>
          </a:solidFill>
          <a:ln w="12700">
            <a:solidFill>
              <a:srgbClr val="2E5A94"/>
            </a:solidFill>
            <a:prstDash val="solid"/>
          </a:ln>
        </p:spPr>
      </p:sp>
      <p:sp>
        <p:nvSpPr>
          <p:cNvPr id="18" name="Shape 16"/>
          <p:cNvSpPr/>
          <p:nvPr/>
        </p:nvSpPr>
        <p:spPr>
          <a:xfrm>
            <a:off x="914400" y="5440680"/>
            <a:ext cx="2423160" cy="182880"/>
          </a:xfrm>
          <a:prstGeom prst="roundRect">
            <a:avLst>
              <a:gd name="adj" fmla="val 50000"/>
            </a:avLst>
          </a:prstGeom>
          <a:solidFill>
            <a:srgbClr val="02C39A"/>
          </a:solidFill>
          <a:ln w="12700">
            <a:solidFill>
              <a:srgbClr val="02C39A"/>
            </a:solidFill>
            <a:prstDash val="solid"/>
          </a:ln>
        </p:spPr>
      </p:sp>
      <p:sp>
        <p:nvSpPr>
          <p:cNvPr id="19" name="Shape 17"/>
          <p:cNvSpPr/>
          <p:nvPr/>
        </p:nvSpPr>
        <p:spPr>
          <a:xfrm>
            <a:off x="5852160" y="1783080"/>
            <a:ext cx="777240" cy="777240"/>
          </a:xfrm>
          <a:prstGeom prst="ellipse">
            <a:avLst/>
          </a:prstGeom>
          <a:solidFill>
            <a:srgbClr val="00A896"/>
          </a:solidFill>
          <a:ln w="12700">
            <a:solidFill>
              <a:srgbClr val="00A896"/>
            </a:solidFill>
            <a:prstDash val="solid"/>
          </a:ln>
        </p:spPr>
      </p:sp>
      <p:pic>
        <p:nvPicPr>
          <p:cNvPr id="20" name="Image 0" descr="preencoded.png">    </p:cNvPr>
          <p:cNvPicPr>
            <a:picLocks noChangeAspect="1"/>
          </p:cNvPicPr>
          <p:nvPr/>
        </p:nvPicPr>
        <p:blipFill>
          <a:blip r:embed="rId1"/>
          <a:stretch>
            <a:fillRect/>
          </a:stretch>
        </p:blipFill>
        <p:spPr>
          <a:xfrm>
            <a:off x="6069787" y="2000707"/>
            <a:ext cx="341986" cy="341986"/>
          </a:xfrm>
          <a:prstGeom prst="rect">
            <a:avLst/>
          </a:prstGeom>
        </p:spPr>
      </p:pic>
      <p:sp>
        <p:nvSpPr>
          <p:cNvPr id="21" name="Text 18"/>
          <p:cNvSpPr txBox="1"/>
          <p:nvPr/>
        </p:nvSpPr>
        <p:spPr>
          <a:xfrm>
            <a:off x="6903720" y="1737360"/>
            <a:ext cx="4754880" cy="36576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Strength check that explains why</a:t>
            </a:r>
            <a:endParaRPr lang="en-US" sz="2000" dirty="0"/>
          </a:p>
        </p:txBody>
      </p:sp>
      <p:sp>
        <p:nvSpPr>
          <p:cNvPr id="22" name="Text 19"/>
          <p:cNvSpPr txBox="1"/>
          <p:nvPr/>
        </p:nvSpPr>
        <p:spPr>
          <a:xfrm>
            <a:off x="6903720" y="2148840"/>
            <a:ext cx="4754880" cy="868680"/>
          </a:xfrm>
          <a:prstGeom prst="rect">
            <a:avLst/>
          </a:prstGeom>
          <a:noFill/>
          <a:ln/>
        </p:spPr>
        <p:txBody>
          <a:bodyPr wrap="square" lIns="0" tIns="0" rIns="0" bIns="0" rtlCol="0" anchor="t"/>
          <a:lstStyle/>
          <a:p>
            <a:pPr indent="0" marL="0">
              <a:buNone/>
            </a:pPr>
            <a:r>
              <a:rPr lang="en-US" sz="1450" dirty="0">
                <a:solidFill>
                  <a:srgbClr val="1B2A41"/>
                </a:solidFill>
                <a:latin typeface="Calibri" pitchFamily="34" charset="0"/>
                <a:ea typeface="Calibri" pitchFamily="34" charset="-122"/>
                <a:cs typeface="Calibri" pitchFamily="34" charset="-120"/>
              </a:rPr>
              <a:t>Shows what makes a password weak instead of just giving a score, so users learn as they go.</a:t>
            </a:r>
            <a:endParaRPr lang="en-US" sz="1450" dirty="0"/>
          </a:p>
        </p:txBody>
      </p:sp>
      <p:sp>
        <p:nvSpPr>
          <p:cNvPr id="23" name="Shape 20"/>
          <p:cNvSpPr/>
          <p:nvPr/>
        </p:nvSpPr>
        <p:spPr>
          <a:xfrm>
            <a:off x="5852160" y="3291840"/>
            <a:ext cx="777240" cy="777240"/>
          </a:xfrm>
          <a:prstGeom prst="ellipse">
            <a:avLst/>
          </a:prstGeom>
          <a:solidFill>
            <a:srgbClr val="C99700"/>
          </a:solidFill>
          <a:ln w="12700">
            <a:solidFill>
              <a:srgbClr val="C99700"/>
            </a:solidFill>
            <a:prstDash val="solid"/>
          </a:ln>
        </p:spPr>
      </p:sp>
      <p:pic>
        <p:nvPicPr>
          <p:cNvPr id="24" name="Image 1" descr="preencoded.png">    </p:cNvPr>
          <p:cNvPicPr>
            <a:picLocks noChangeAspect="1"/>
          </p:cNvPicPr>
          <p:nvPr/>
        </p:nvPicPr>
        <p:blipFill>
          <a:blip r:embed="rId2"/>
          <a:stretch>
            <a:fillRect/>
          </a:stretch>
        </p:blipFill>
        <p:spPr>
          <a:xfrm>
            <a:off x="6069787" y="3509467"/>
            <a:ext cx="341986" cy="341986"/>
          </a:xfrm>
          <a:prstGeom prst="rect">
            <a:avLst/>
          </a:prstGeom>
        </p:spPr>
      </p:pic>
      <p:sp>
        <p:nvSpPr>
          <p:cNvPr id="25" name="Text 21"/>
          <p:cNvSpPr txBox="1"/>
          <p:nvPr/>
        </p:nvSpPr>
        <p:spPr>
          <a:xfrm>
            <a:off x="6903720" y="3246120"/>
            <a:ext cx="4754880" cy="36576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Behaviour advisor</a:t>
            </a:r>
            <a:endParaRPr lang="en-US" sz="2000" dirty="0"/>
          </a:p>
        </p:txBody>
      </p:sp>
      <p:sp>
        <p:nvSpPr>
          <p:cNvPr id="26" name="Text 22"/>
          <p:cNvSpPr txBox="1"/>
          <p:nvPr/>
        </p:nvSpPr>
        <p:spPr>
          <a:xfrm>
            <a:off x="6903720" y="3657600"/>
            <a:ext cx="4754880" cy="868680"/>
          </a:xfrm>
          <a:prstGeom prst="rect">
            <a:avLst/>
          </a:prstGeom>
          <a:noFill/>
          <a:ln/>
        </p:spPr>
        <p:txBody>
          <a:bodyPr wrap="square" lIns="0" tIns="0" rIns="0" bIns="0" rtlCol="0" anchor="t"/>
          <a:lstStyle/>
          <a:p>
            <a:pPr indent="0" marL="0">
              <a:buNone/>
            </a:pPr>
            <a:r>
              <a:rPr lang="en-US" sz="1450" dirty="0">
                <a:solidFill>
                  <a:srgbClr val="1B2A41"/>
                </a:solidFill>
                <a:latin typeface="Calibri" pitchFamily="34" charset="0"/>
                <a:ea typeface="Calibri" pitchFamily="34" charset="-122"/>
                <a:cs typeface="Calibri" pitchFamily="34" charset="-120"/>
              </a:rPr>
              <a:t>Short questions about password reuse, 2-step login, updates and public Wi-Fi give a personal safety score and next steps.</a:t>
            </a:r>
            <a:endParaRPr lang="en-US" sz="1450" dirty="0"/>
          </a:p>
        </p:txBody>
      </p:sp>
      <p:sp>
        <p:nvSpPr>
          <p:cNvPr id="27" name="Shape 23"/>
          <p:cNvSpPr/>
          <p:nvPr/>
        </p:nvSpPr>
        <p:spPr>
          <a:xfrm>
            <a:off x="5852160" y="4800600"/>
            <a:ext cx="777240" cy="777240"/>
          </a:xfrm>
          <a:prstGeom prst="ellipse">
            <a:avLst/>
          </a:prstGeom>
          <a:solidFill>
            <a:srgbClr val="16335C"/>
          </a:solidFill>
          <a:ln w="12700">
            <a:solidFill>
              <a:srgbClr val="16335C"/>
            </a:solidFill>
            <a:prstDash val="solid"/>
          </a:ln>
        </p:spPr>
      </p:sp>
      <p:pic>
        <p:nvPicPr>
          <p:cNvPr id="28" name="Image 2" descr="preencoded.png">    </p:cNvPr>
          <p:cNvPicPr>
            <a:picLocks noChangeAspect="1"/>
          </p:cNvPicPr>
          <p:nvPr/>
        </p:nvPicPr>
        <p:blipFill>
          <a:blip r:embed="rId3"/>
          <a:stretch>
            <a:fillRect/>
          </a:stretch>
        </p:blipFill>
        <p:spPr>
          <a:xfrm>
            <a:off x="6069787" y="5018227"/>
            <a:ext cx="341986" cy="341986"/>
          </a:xfrm>
          <a:prstGeom prst="rect">
            <a:avLst/>
          </a:prstGeom>
        </p:spPr>
      </p:pic>
      <p:sp>
        <p:nvSpPr>
          <p:cNvPr id="29" name="Text 24"/>
          <p:cNvSpPr txBox="1"/>
          <p:nvPr/>
        </p:nvSpPr>
        <p:spPr>
          <a:xfrm>
            <a:off x="6903720" y="4754880"/>
            <a:ext cx="4754880" cy="36576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Privacy first</a:t>
            </a:r>
            <a:endParaRPr lang="en-US" sz="2000" dirty="0"/>
          </a:p>
        </p:txBody>
      </p:sp>
      <p:sp>
        <p:nvSpPr>
          <p:cNvPr id="30" name="Text 25"/>
          <p:cNvSpPr txBox="1"/>
          <p:nvPr/>
        </p:nvSpPr>
        <p:spPr>
          <a:xfrm>
            <a:off x="6903720" y="5166360"/>
            <a:ext cx="4754880" cy="868680"/>
          </a:xfrm>
          <a:prstGeom prst="rect">
            <a:avLst/>
          </a:prstGeom>
          <a:noFill/>
          <a:ln/>
        </p:spPr>
        <p:txBody>
          <a:bodyPr wrap="square" lIns="0" tIns="0" rIns="0" bIns="0" rtlCol="0" anchor="t"/>
          <a:lstStyle/>
          <a:p>
            <a:pPr indent="0" marL="0">
              <a:buNone/>
            </a:pPr>
            <a:r>
              <a:rPr lang="en-US" sz="1450" dirty="0">
                <a:solidFill>
                  <a:srgbClr val="1B2A41"/>
                </a:solidFill>
                <a:latin typeface="Calibri" pitchFamily="34" charset="0"/>
                <a:ea typeface="Calibri" pitchFamily="34" charset="-122"/>
                <a:cs typeface="Calibri" pitchFamily="34" charset="-120"/>
              </a:rPr>
              <a:t>Passwords are checked on the device and are never stored or sent anywhere.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MODULE 3</a:t>
            </a:r>
            <a:endParaRPr lang="en-US" sz="1200" dirty="0"/>
          </a:p>
        </p:txBody>
      </p:sp>
      <p:sp>
        <p:nvSpPr>
          <p:cNvPr id="3" name="Text 1"/>
          <p:cNvSpPr txBox="1"/>
          <p:nvPr/>
        </p:nvSpPr>
        <p:spPr>
          <a:xfrm>
            <a:off x="548640" y="685800"/>
            <a:ext cx="11109960" cy="731520"/>
          </a:xfrm>
          <a:prstGeom prst="rect">
            <a:avLst/>
          </a:prstGeom>
          <a:noFill/>
          <a:ln/>
        </p:spPr>
        <p:txBody>
          <a:bodyPr wrap="square" lIns="0" tIns="0" rIns="0" bIns="0" rtlCol="0" anchor="ctr"/>
          <a:lstStyle/>
          <a:p>
            <a:pPr indent="0" marL="0">
              <a:buNone/>
            </a:pPr>
            <a:r>
              <a:rPr lang="en-US" sz="3600" b="1" dirty="0">
                <a:solidFill>
                  <a:srgbClr val="0B1F3A"/>
                </a:solidFill>
                <a:latin typeface="Cambria" pitchFamily="34" charset="0"/>
                <a:ea typeface="Cambria" pitchFamily="34" charset="-122"/>
                <a:cs typeface="Cambria" pitchFamily="34" charset="-120"/>
              </a:rPr>
              <a:t>Cyber Awareness Chatbot for Beginners</a:t>
            </a:r>
            <a:endParaRPr lang="en-US" sz="36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AI Financial Literacy Advisor  |  AI for Cybersecurity Awareness</a:t>
            </a:r>
            <a:endParaRPr lang="en-US" sz="1000" dirty="0"/>
          </a:p>
        </p:txBody>
      </p:sp>
      <p:sp>
        <p:nvSpPr>
          <p:cNvPr id="5" name="Text 3"/>
          <p:cNvSpPr txBox="1"/>
          <p:nvPr/>
        </p:nvSpPr>
        <p:spPr>
          <a:xfrm>
            <a:off x="10744200" y="6400800"/>
            <a:ext cx="91440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691640"/>
            <a:ext cx="5669280" cy="4343400"/>
          </a:xfrm>
          <a:prstGeom prst="roundRect">
            <a:avLst>
              <a:gd name="adj" fmla="val 252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868680" y="1874520"/>
            <a:ext cx="502920" cy="502920"/>
          </a:xfrm>
          <a:prstGeom prst="ellipse">
            <a:avLst/>
          </a:prstGeom>
          <a:solidFill>
            <a:srgbClr val="00A896"/>
          </a:solidFill>
          <a:ln w="12700">
            <a:solidFill>
              <a:srgbClr val="00A896"/>
            </a:solidFill>
            <a:prstDash val="solid"/>
          </a:ln>
        </p:spPr>
      </p:sp>
      <p:pic>
        <p:nvPicPr>
          <p:cNvPr id="8" name="Image 0" descr="preencoded.png">    </p:cNvPr>
          <p:cNvPicPr>
            <a:picLocks noChangeAspect="1"/>
          </p:cNvPicPr>
          <p:nvPr/>
        </p:nvPicPr>
        <p:blipFill>
          <a:blip r:embed="rId1"/>
          <a:stretch>
            <a:fillRect/>
          </a:stretch>
        </p:blipFill>
        <p:spPr>
          <a:xfrm>
            <a:off x="1009498" y="2015338"/>
            <a:ext cx="221285" cy="221285"/>
          </a:xfrm>
          <a:prstGeom prst="rect">
            <a:avLst/>
          </a:prstGeom>
        </p:spPr>
      </p:pic>
      <p:sp>
        <p:nvSpPr>
          <p:cNvPr id="9" name="Text 6"/>
          <p:cNvSpPr txBox="1"/>
          <p:nvPr/>
        </p:nvSpPr>
        <p:spPr>
          <a:xfrm>
            <a:off x="1508760" y="1874520"/>
            <a:ext cx="3657600" cy="50292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AI Advisor Chat</a:t>
            </a:r>
            <a:endParaRPr lang="en-US" sz="1600" dirty="0"/>
          </a:p>
        </p:txBody>
      </p:sp>
      <p:sp>
        <p:nvSpPr>
          <p:cNvPr id="10" name="Shape 7"/>
          <p:cNvSpPr/>
          <p:nvPr/>
        </p:nvSpPr>
        <p:spPr>
          <a:xfrm>
            <a:off x="2011680" y="2606040"/>
            <a:ext cx="3931920" cy="868680"/>
          </a:xfrm>
          <a:prstGeom prst="roundRect">
            <a:avLst>
              <a:gd name="adj" fmla="val 15789"/>
            </a:avLst>
          </a:prstGeom>
          <a:solidFill>
            <a:srgbClr val="E3ECF6"/>
          </a:solidFill>
          <a:ln w="12700">
            <a:solidFill>
              <a:srgbClr val="E3ECF6"/>
            </a:solidFill>
            <a:prstDash val="solid"/>
          </a:ln>
        </p:spPr>
      </p:sp>
      <p:sp>
        <p:nvSpPr>
          <p:cNvPr id="11" name="Text 8"/>
          <p:cNvSpPr txBox="1"/>
          <p:nvPr/>
        </p:nvSpPr>
        <p:spPr>
          <a:xfrm>
            <a:off x="2194560" y="2606040"/>
            <a:ext cx="3566160" cy="868680"/>
          </a:xfrm>
          <a:prstGeom prst="rect">
            <a:avLst/>
          </a:prstGeom>
          <a:noFill/>
          <a:ln/>
        </p:spPr>
        <p:txBody>
          <a:bodyPr wrap="square" lIns="0" tIns="0" rIns="0" bIns="0" rtlCol="0" anchor="ctr"/>
          <a:lstStyle/>
          <a:p>
            <a:pPr indent="0" marL="0">
              <a:buNone/>
            </a:pPr>
            <a:r>
              <a:rPr lang="en-US" sz="1350" dirty="0">
                <a:solidFill>
                  <a:srgbClr val="1B2A41"/>
                </a:solidFill>
                <a:latin typeface="Calibri" pitchFamily="34" charset="0"/>
                <a:ea typeface="Calibri" pitchFamily="34" charset="-122"/>
                <a:cs typeface="Calibri" pitchFamily="34" charset="-120"/>
              </a:rPr>
              <a:t>Someone called saying they're from my bank and asked for my OTP. Is that normal?</a:t>
            </a:r>
            <a:endParaRPr lang="en-US" sz="1350" dirty="0"/>
          </a:p>
        </p:txBody>
      </p:sp>
      <p:sp>
        <p:nvSpPr>
          <p:cNvPr id="12" name="Shape 9"/>
          <p:cNvSpPr/>
          <p:nvPr/>
        </p:nvSpPr>
        <p:spPr>
          <a:xfrm>
            <a:off x="822960" y="3611880"/>
            <a:ext cx="4480560" cy="1143000"/>
          </a:xfrm>
          <a:prstGeom prst="roundRect">
            <a:avLst>
              <a:gd name="adj" fmla="val 12000"/>
            </a:avLst>
          </a:prstGeom>
          <a:solidFill>
            <a:srgbClr val="0B1F3A"/>
          </a:solidFill>
          <a:ln w="12700">
            <a:solidFill>
              <a:srgbClr val="0B1F3A"/>
            </a:solidFill>
            <a:prstDash val="solid"/>
          </a:ln>
        </p:spPr>
      </p:sp>
      <p:sp>
        <p:nvSpPr>
          <p:cNvPr id="13" name="Text 10"/>
          <p:cNvSpPr txBox="1"/>
          <p:nvPr/>
        </p:nvSpPr>
        <p:spPr>
          <a:xfrm>
            <a:off x="1005840" y="3611880"/>
            <a:ext cx="4114800" cy="11430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 A bank never asks for your OTP. Hang up, don't share it, and call your bank on the number printed on your card.</a:t>
            </a:r>
            <a:endParaRPr lang="en-US" sz="1350" dirty="0"/>
          </a:p>
        </p:txBody>
      </p:sp>
      <p:sp>
        <p:nvSpPr>
          <p:cNvPr id="14" name="Shape 11"/>
          <p:cNvSpPr/>
          <p:nvPr/>
        </p:nvSpPr>
        <p:spPr>
          <a:xfrm>
            <a:off x="822960" y="5120640"/>
            <a:ext cx="1828800" cy="457200"/>
          </a:xfrm>
          <a:prstGeom prst="roundRect">
            <a:avLst>
              <a:gd name="adj" fmla="val 50000"/>
            </a:avLst>
          </a:prstGeom>
          <a:solidFill>
            <a:srgbClr val="FFFFFF"/>
          </a:solidFill>
          <a:ln w="19050">
            <a:solidFill>
              <a:srgbClr val="00A896"/>
            </a:solidFill>
            <a:prstDash val="solid"/>
          </a:ln>
        </p:spPr>
      </p:sp>
      <p:sp>
        <p:nvSpPr>
          <p:cNvPr id="15" name="Text 12"/>
          <p:cNvSpPr txBox="1"/>
          <p:nvPr/>
        </p:nvSpPr>
        <p:spPr>
          <a:xfrm>
            <a:off x="822960" y="5120640"/>
            <a:ext cx="1828800" cy="457200"/>
          </a:xfrm>
          <a:prstGeom prst="rect">
            <a:avLst/>
          </a:prstGeom>
          <a:noFill/>
          <a:ln/>
        </p:spPr>
        <p:txBody>
          <a:bodyPr wrap="square" lIns="0" tIns="0" rIns="0" bIns="0" rtlCol="0" anchor="ctr"/>
          <a:lstStyle/>
          <a:p>
            <a:pPr algn="ctr" indent="0" marL="0">
              <a:buNone/>
            </a:pPr>
            <a:r>
              <a:rPr lang="en-US" sz="1300" b="1" dirty="0">
                <a:solidFill>
                  <a:srgbClr val="00A896"/>
                </a:solidFill>
                <a:latin typeface="Calibri" pitchFamily="34" charset="0"/>
                <a:ea typeface="Calibri" pitchFamily="34" charset="-122"/>
                <a:cs typeface="Calibri" pitchFamily="34" charset="-120"/>
              </a:rPr>
              <a:t>Explain phishing</a:t>
            </a:r>
            <a:endParaRPr lang="en-US" sz="1300" dirty="0"/>
          </a:p>
        </p:txBody>
      </p:sp>
      <p:sp>
        <p:nvSpPr>
          <p:cNvPr id="16" name="Shape 13"/>
          <p:cNvSpPr/>
          <p:nvPr/>
        </p:nvSpPr>
        <p:spPr>
          <a:xfrm>
            <a:off x="2834640" y="5120640"/>
            <a:ext cx="2011680" cy="457200"/>
          </a:xfrm>
          <a:prstGeom prst="roundRect">
            <a:avLst>
              <a:gd name="adj" fmla="val 50000"/>
            </a:avLst>
          </a:prstGeom>
          <a:solidFill>
            <a:srgbClr val="FFFFFF"/>
          </a:solidFill>
          <a:ln w="19050">
            <a:solidFill>
              <a:srgbClr val="00A896"/>
            </a:solidFill>
            <a:prstDash val="solid"/>
          </a:ln>
        </p:spPr>
      </p:sp>
      <p:sp>
        <p:nvSpPr>
          <p:cNvPr id="17" name="Text 14"/>
          <p:cNvSpPr txBox="1"/>
          <p:nvPr/>
        </p:nvSpPr>
        <p:spPr>
          <a:xfrm>
            <a:off x="2834640" y="5120640"/>
            <a:ext cx="2011680" cy="457200"/>
          </a:xfrm>
          <a:prstGeom prst="rect">
            <a:avLst/>
          </a:prstGeom>
          <a:noFill/>
          <a:ln/>
        </p:spPr>
        <p:txBody>
          <a:bodyPr wrap="square" lIns="0" tIns="0" rIns="0" bIns="0" rtlCol="0" anchor="ctr"/>
          <a:lstStyle/>
          <a:p>
            <a:pPr algn="ctr" indent="0" marL="0">
              <a:buNone/>
            </a:pPr>
            <a:r>
              <a:rPr lang="en-US" sz="1300" b="1" dirty="0">
                <a:solidFill>
                  <a:srgbClr val="00A896"/>
                </a:solidFill>
                <a:latin typeface="Calibri" pitchFamily="34" charset="0"/>
                <a:ea typeface="Calibri" pitchFamily="34" charset="-122"/>
                <a:cs typeface="Calibri" pitchFamily="34" charset="-120"/>
              </a:rPr>
              <a:t>Take a 2-min quiz</a:t>
            </a:r>
            <a:endParaRPr lang="en-US" sz="1300" dirty="0"/>
          </a:p>
        </p:txBody>
      </p:sp>
      <p:sp>
        <p:nvSpPr>
          <p:cNvPr id="18" name="Shape 15"/>
          <p:cNvSpPr/>
          <p:nvPr/>
        </p:nvSpPr>
        <p:spPr>
          <a:xfrm>
            <a:off x="6492240" y="1691640"/>
            <a:ext cx="2468880" cy="2034540"/>
          </a:xfrm>
          <a:prstGeom prst="roundRect">
            <a:avLst>
              <a:gd name="adj" fmla="val 539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6720840" y="1920240"/>
            <a:ext cx="566928" cy="566928"/>
          </a:xfrm>
          <a:prstGeom prst="ellipse">
            <a:avLst/>
          </a:prstGeom>
          <a:solidFill>
            <a:srgbClr val="00A896"/>
          </a:solidFill>
          <a:ln w="12700">
            <a:solidFill>
              <a:srgbClr val="00A896"/>
            </a:solidFill>
            <a:prstDash val="solid"/>
          </a:ln>
        </p:spPr>
      </p:sp>
      <p:pic>
        <p:nvPicPr>
          <p:cNvPr id="20" name="Image 1" descr="preencoded.png">    </p:cNvPr>
          <p:cNvPicPr>
            <a:picLocks noChangeAspect="1"/>
          </p:cNvPicPr>
          <p:nvPr/>
        </p:nvPicPr>
        <p:blipFill>
          <a:blip r:embed="rId2"/>
          <a:stretch>
            <a:fillRect/>
          </a:stretch>
        </p:blipFill>
        <p:spPr>
          <a:xfrm>
            <a:off x="6879580" y="2078980"/>
            <a:ext cx="249448" cy="249448"/>
          </a:xfrm>
          <a:prstGeom prst="rect">
            <a:avLst/>
          </a:prstGeom>
        </p:spPr>
      </p:pic>
      <p:sp>
        <p:nvSpPr>
          <p:cNvPr id="21" name="Text 17"/>
          <p:cNvSpPr txBox="1"/>
          <p:nvPr/>
        </p:nvSpPr>
        <p:spPr>
          <a:xfrm>
            <a:off x="6720840" y="2587752"/>
            <a:ext cx="2057400" cy="32004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Plain language</a:t>
            </a:r>
            <a:endParaRPr lang="en-US" sz="1600" dirty="0"/>
          </a:p>
        </p:txBody>
      </p:sp>
      <p:sp>
        <p:nvSpPr>
          <p:cNvPr id="22" name="Text 18"/>
          <p:cNvSpPr txBox="1"/>
          <p:nvPr/>
        </p:nvSpPr>
        <p:spPr>
          <a:xfrm>
            <a:off x="6720840" y="2926080"/>
            <a:ext cx="2057400" cy="73152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No jargon. Answers written for first-time internet users.</a:t>
            </a:r>
            <a:endParaRPr lang="en-US" sz="1300" dirty="0"/>
          </a:p>
        </p:txBody>
      </p:sp>
      <p:sp>
        <p:nvSpPr>
          <p:cNvPr id="23" name="Shape 19"/>
          <p:cNvSpPr/>
          <p:nvPr/>
        </p:nvSpPr>
        <p:spPr>
          <a:xfrm>
            <a:off x="9189720" y="1691640"/>
            <a:ext cx="2468880" cy="2034540"/>
          </a:xfrm>
          <a:prstGeom prst="roundRect">
            <a:avLst>
              <a:gd name="adj" fmla="val 539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4" name="Shape 20"/>
          <p:cNvSpPr/>
          <p:nvPr/>
        </p:nvSpPr>
        <p:spPr>
          <a:xfrm>
            <a:off x="9418320" y="1920240"/>
            <a:ext cx="566928" cy="566928"/>
          </a:xfrm>
          <a:prstGeom prst="ellipse">
            <a:avLst/>
          </a:prstGeom>
          <a:solidFill>
            <a:srgbClr val="16335C"/>
          </a:solidFill>
          <a:ln w="12700">
            <a:solidFill>
              <a:srgbClr val="16335C"/>
            </a:solidFill>
            <a:prstDash val="solid"/>
          </a:ln>
        </p:spPr>
      </p:sp>
      <p:pic>
        <p:nvPicPr>
          <p:cNvPr id="25" name="Image 2" descr="preencoded.png">    </p:cNvPr>
          <p:cNvPicPr>
            <a:picLocks noChangeAspect="1"/>
          </p:cNvPicPr>
          <p:nvPr/>
        </p:nvPicPr>
        <p:blipFill>
          <a:blip r:embed="rId3"/>
          <a:stretch>
            <a:fillRect/>
          </a:stretch>
        </p:blipFill>
        <p:spPr>
          <a:xfrm>
            <a:off x="9577060" y="2078980"/>
            <a:ext cx="249448" cy="249448"/>
          </a:xfrm>
          <a:prstGeom prst="rect">
            <a:avLst/>
          </a:prstGeom>
        </p:spPr>
      </p:pic>
      <p:sp>
        <p:nvSpPr>
          <p:cNvPr id="26" name="Text 21"/>
          <p:cNvSpPr txBox="1"/>
          <p:nvPr/>
        </p:nvSpPr>
        <p:spPr>
          <a:xfrm>
            <a:off x="9418320" y="2587752"/>
            <a:ext cx="2057400" cy="32004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Scenario lessons</a:t>
            </a:r>
            <a:endParaRPr lang="en-US" sz="1600" dirty="0"/>
          </a:p>
        </p:txBody>
      </p:sp>
      <p:sp>
        <p:nvSpPr>
          <p:cNvPr id="27" name="Text 22"/>
          <p:cNvSpPr txBox="1"/>
          <p:nvPr/>
        </p:nvSpPr>
        <p:spPr>
          <a:xfrm>
            <a:off x="9418320" y="2926080"/>
            <a:ext cx="2057400" cy="73152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Short real-life examples and quizzes that make habits stick.</a:t>
            </a:r>
            <a:endParaRPr lang="en-US" sz="1300" dirty="0"/>
          </a:p>
        </p:txBody>
      </p:sp>
      <p:sp>
        <p:nvSpPr>
          <p:cNvPr id="28" name="Shape 23"/>
          <p:cNvSpPr/>
          <p:nvPr/>
        </p:nvSpPr>
        <p:spPr>
          <a:xfrm>
            <a:off x="6492240" y="3954780"/>
            <a:ext cx="2468880" cy="2034540"/>
          </a:xfrm>
          <a:prstGeom prst="roundRect">
            <a:avLst>
              <a:gd name="adj" fmla="val 539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9" name="Shape 24"/>
          <p:cNvSpPr/>
          <p:nvPr/>
        </p:nvSpPr>
        <p:spPr>
          <a:xfrm>
            <a:off x="6720840" y="4183380"/>
            <a:ext cx="566928" cy="566928"/>
          </a:xfrm>
          <a:prstGeom prst="ellipse">
            <a:avLst/>
          </a:prstGeom>
          <a:solidFill>
            <a:srgbClr val="C99700"/>
          </a:solidFill>
          <a:ln w="12700">
            <a:solidFill>
              <a:srgbClr val="C99700"/>
            </a:solidFill>
            <a:prstDash val="solid"/>
          </a:ln>
        </p:spPr>
      </p:sp>
      <p:pic>
        <p:nvPicPr>
          <p:cNvPr id="30" name="Image 3" descr="preencoded.png">    </p:cNvPr>
          <p:cNvPicPr>
            <a:picLocks noChangeAspect="1"/>
          </p:cNvPicPr>
          <p:nvPr/>
        </p:nvPicPr>
        <p:blipFill>
          <a:blip r:embed="rId4"/>
          <a:stretch>
            <a:fillRect/>
          </a:stretch>
        </p:blipFill>
        <p:spPr>
          <a:xfrm>
            <a:off x="6879580" y="4342120"/>
            <a:ext cx="249448" cy="249448"/>
          </a:xfrm>
          <a:prstGeom prst="rect">
            <a:avLst/>
          </a:prstGeom>
        </p:spPr>
      </p:pic>
      <p:sp>
        <p:nvSpPr>
          <p:cNvPr id="31" name="Text 25"/>
          <p:cNvSpPr txBox="1"/>
          <p:nvPr/>
        </p:nvSpPr>
        <p:spPr>
          <a:xfrm>
            <a:off x="6720840" y="4850892"/>
            <a:ext cx="2057400" cy="32004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Always available</a:t>
            </a:r>
            <a:endParaRPr lang="en-US" sz="1600" dirty="0"/>
          </a:p>
        </p:txBody>
      </p:sp>
      <p:sp>
        <p:nvSpPr>
          <p:cNvPr id="32" name="Text 26"/>
          <p:cNvSpPr txBox="1"/>
          <p:nvPr/>
        </p:nvSpPr>
        <p:spPr>
          <a:xfrm>
            <a:off x="6720840" y="5189220"/>
            <a:ext cx="2057400" cy="73152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Instant help at any hour, with room for regional languages.</a:t>
            </a:r>
            <a:endParaRPr lang="en-US" sz="1300" dirty="0"/>
          </a:p>
        </p:txBody>
      </p:sp>
      <p:sp>
        <p:nvSpPr>
          <p:cNvPr id="33" name="Shape 27"/>
          <p:cNvSpPr/>
          <p:nvPr/>
        </p:nvSpPr>
        <p:spPr>
          <a:xfrm>
            <a:off x="9189720" y="3954780"/>
            <a:ext cx="2468880" cy="2034540"/>
          </a:xfrm>
          <a:prstGeom prst="roundRect">
            <a:avLst>
              <a:gd name="adj" fmla="val 539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34" name="Shape 28"/>
          <p:cNvSpPr/>
          <p:nvPr/>
        </p:nvSpPr>
        <p:spPr>
          <a:xfrm>
            <a:off x="9418320" y="4183380"/>
            <a:ext cx="566928" cy="566928"/>
          </a:xfrm>
          <a:prstGeom prst="ellipse">
            <a:avLst/>
          </a:prstGeom>
          <a:solidFill>
            <a:srgbClr val="D93F45"/>
          </a:solidFill>
          <a:ln w="12700">
            <a:solidFill>
              <a:srgbClr val="D93F45"/>
            </a:solidFill>
            <a:prstDash val="solid"/>
          </a:ln>
        </p:spPr>
      </p:sp>
      <p:pic>
        <p:nvPicPr>
          <p:cNvPr id="35" name="Image 4" descr="preencoded.png">    </p:cNvPr>
          <p:cNvPicPr>
            <a:picLocks noChangeAspect="1"/>
          </p:cNvPicPr>
          <p:nvPr/>
        </p:nvPicPr>
        <p:blipFill>
          <a:blip r:embed="rId5"/>
          <a:stretch>
            <a:fillRect/>
          </a:stretch>
        </p:blipFill>
        <p:spPr>
          <a:xfrm>
            <a:off x="9577060" y="4342120"/>
            <a:ext cx="249448" cy="249448"/>
          </a:xfrm>
          <a:prstGeom prst="rect">
            <a:avLst/>
          </a:prstGeom>
        </p:spPr>
      </p:pic>
      <p:sp>
        <p:nvSpPr>
          <p:cNvPr id="36" name="Text 29"/>
          <p:cNvSpPr txBox="1"/>
          <p:nvPr/>
        </p:nvSpPr>
        <p:spPr>
          <a:xfrm>
            <a:off x="9418320" y="4850892"/>
            <a:ext cx="2057400" cy="32004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Points to real help</a:t>
            </a:r>
            <a:endParaRPr lang="en-US" sz="1600" dirty="0"/>
          </a:p>
        </p:txBody>
      </p:sp>
      <p:sp>
        <p:nvSpPr>
          <p:cNvPr id="37" name="Text 30"/>
          <p:cNvSpPr txBox="1"/>
          <p:nvPr/>
        </p:nvSpPr>
        <p:spPr>
          <a:xfrm>
            <a:off x="9418320" y="5189220"/>
            <a:ext cx="2057400" cy="73152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Guides users to official reporting channels when needed.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HOW IT WORKS</a:t>
            </a:r>
            <a:endParaRPr lang="en-US" sz="1200" dirty="0"/>
          </a:p>
        </p:txBody>
      </p:sp>
      <p:sp>
        <p:nvSpPr>
          <p:cNvPr id="3" name="Text 1"/>
          <p:cNvSpPr txBox="1"/>
          <p:nvPr/>
        </p:nvSpPr>
        <p:spPr>
          <a:xfrm>
            <a:off x="548640" y="685800"/>
            <a:ext cx="11109960" cy="731520"/>
          </a:xfrm>
          <a:prstGeom prst="rect">
            <a:avLst/>
          </a:prstGeom>
          <a:noFill/>
          <a:ln/>
        </p:spPr>
        <p:txBody>
          <a:bodyPr wrap="square" lIns="0" tIns="0" rIns="0" bIns="0" rtlCol="0" anchor="ctr"/>
          <a:lstStyle/>
          <a:p>
            <a:pPr indent="0" marL="0">
              <a:buNone/>
            </a:pPr>
            <a:r>
              <a:rPr lang="en-US" sz="3600" b="1" dirty="0">
                <a:solidFill>
                  <a:srgbClr val="0B1F3A"/>
                </a:solidFill>
                <a:latin typeface="Cambria" pitchFamily="34" charset="0"/>
                <a:ea typeface="Cambria" pitchFamily="34" charset="-122"/>
                <a:cs typeface="Cambria" pitchFamily="34" charset="-120"/>
              </a:rPr>
              <a:t>From question to safe decision in seconds</a:t>
            </a:r>
            <a:endParaRPr lang="en-US" sz="36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AI Financial Literacy Advisor  |  AI for Cybersecurity Awareness</a:t>
            </a:r>
            <a:endParaRPr lang="en-US" sz="1000" dirty="0"/>
          </a:p>
        </p:txBody>
      </p:sp>
      <p:sp>
        <p:nvSpPr>
          <p:cNvPr id="5" name="Text 3"/>
          <p:cNvSpPr txBox="1"/>
          <p:nvPr/>
        </p:nvSpPr>
        <p:spPr>
          <a:xfrm>
            <a:off x="10744200" y="6400800"/>
            <a:ext cx="91440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783080"/>
            <a:ext cx="2468880" cy="2926080"/>
          </a:xfrm>
          <a:prstGeom prst="roundRect">
            <a:avLst>
              <a:gd name="adj" fmla="val 444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822960" y="2057400"/>
            <a:ext cx="548640" cy="548640"/>
          </a:xfrm>
          <a:prstGeom prst="ellipse">
            <a:avLst/>
          </a:prstGeom>
          <a:solidFill>
            <a:srgbClr val="0B1F3A"/>
          </a:solidFill>
          <a:ln w="12700">
            <a:solidFill>
              <a:srgbClr val="0B1F3A"/>
            </a:solidFill>
            <a:prstDash val="solid"/>
          </a:ln>
        </p:spPr>
      </p:sp>
      <p:sp>
        <p:nvSpPr>
          <p:cNvPr id="8" name="Text 6"/>
          <p:cNvSpPr txBox="1"/>
          <p:nvPr/>
        </p:nvSpPr>
        <p:spPr>
          <a:xfrm>
            <a:off x="822960" y="20574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txBox="1"/>
          <p:nvPr/>
        </p:nvSpPr>
        <p:spPr>
          <a:xfrm>
            <a:off x="822960" y="2788920"/>
            <a:ext cx="1920240" cy="411480"/>
          </a:xfrm>
          <a:prstGeom prst="rect">
            <a:avLst/>
          </a:prstGeom>
          <a:noFill/>
          <a:ln/>
        </p:spPr>
        <p:txBody>
          <a:bodyPr wrap="square" lIns="0" tIns="0" rIns="0" bIns="0" rtlCol="0" anchor="ctr"/>
          <a:lstStyle/>
          <a:p>
            <a:pPr indent="0" marL="0">
              <a:buNone/>
            </a:pPr>
            <a:r>
              <a:rPr lang="en-US" sz="1900" b="1" dirty="0">
                <a:solidFill>
                  <a:srgbClr val="0B1F3A"/>
                </a:solidFill>
                <a:latin typeface="Cambria" pitchFamily="34" charset="0"/>
                <a:ea typeface="Cambria" pitchFamily="34" charset="-122"/>
                <a:cs typeface="Cambria" pitchFamily="34" charset="-120"/>
              </a:rPr>
              <a:t>User input</a:t>
            </a:r>
            <a:endParaRPr lang="en-US" sz="1900" dirty="0"/>
          </a:p>
        </p:txBody>
      </p:sp>
      <p:sp>
        <p:nvSpPr>
          <p:cNvPr id="10" name="Text 8"/>
          <p:cNvSpPr txBox="1"/>
          <p:nvPr/>
        </p:nvSpPr>
        <p:spPr>
          <a:xfrm>
            <a:off x="822960" y="3246120"/>
            <a:ext cx="1920240" cy="1371600"/>
          </a:xfrm>
          <a:prstGeom prst="rect">
            <a:avLst/>
          </a:prstGeom>
          <a:noFill/>
          <a:ln/>
        </p:spPr>
        <p:txBody>
          <a:bodyPr wrap="square" lIns="0" tIns="0" rIns="0" bIns="0" rtlCol="0" anchor="t"/>
          <a:lstStyle/>
          <a:p>
            <a:pPr indent="0" marL="0">
              <a:buNone/>
            </a:pPr>
            <a:r>
              <a:rPr lang="en-US" sz="1400" dirty="0">
                <a:solidFill>
                  <a:srgbClr val="1B2A41"/>
                </a:solidFill>
                <a:latin typeface="Calibri" pitchFamily="34" charset="0"/>
                <a:ea typeface="Calibri" pitchFamily="34" charset="-122"/>
                <a:cs typeface="Calibri" pitchFamily="34" charset="-120"/>
              </a:rPr>
              <a:t>A message, link, password or question typed or pasted into the app.</a:t>
            </a:r>
            <a:endParaRPr lang="en-US" sz="1400" dirty="0"/>
          </a:p>
        </p:txBody>
      </p:sp>
      <p:sp>
        <p:nvSpPr>
          <p:cNvPr id="11" name="Shape 9"/>
          <p:cNvSpPr/>
          <p:nvPr/>
        </p:nvSpPr>
        <p:spPr>
          <a:xfrm>
            <a:off x="3072384" y="3246120"/>
            <a:ext cx="301752" cy="0"/>
          </a:xfrm>
          <a:prstGeom prst="line">
            <a:avLst/>
          </a:prstGeom>
          <a:noFill/>
          <a:ln w="31750">
            <a:solidFill>
              <a:srgbClr val="00A896"/>
            </a:solidFill>
            <a:prstDash val="solid"/>
            <a:tailEnd type="triangle"/>
          </a:ln>
        </p:spPr>
      </p:sp>
      <p:sp>
        <p:nvSpPr>
          <p:cNvPr id="12" name="Shape 10"/>
          <p:cNvSpPr/>
          <p:nvPr/>
        </p:nvSpPr>
        <p:spPr>
          <a:xfrm>
            <a:off x="3429000" y="1783080"/>
            <a:ext cx="2468880" cy="2926080"/>
          </a:xfrm>
          <a:prstGeom prst="roundRect">
            <a:avLst>
              <a:gd name="adj" fmla="val 444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Shape 11"/>
          <p:cNvSpPr/>
          <p:nvPr/>
        </p:nvSpPr>
        <p:spPr>
          <a:xfrm>
            <a:off x="3703320" y="2057400"/>
            <a:ext cx="548640" cy="548640"/>
          </a:xfrm>
          <a:prstGeom prst="ellipse">
            <a:avLst/>
          </a:prstGeom>
          <a:solidFill>
            <a:srgbClr val="0B1F3A"/>
          </a:solidFill>
          <a:ln w="12700">
            <a:solidFill>
              <a:srgbClr val="0B1F3A"/>
            </a:solidFill>
            <a:prstDash val="solid"/>
          </a:ln>
        </p:spPr>
      </p:sp>
      <p:sp>
        <p:nvSpPr>
          <p:cNvPr id="14" name="Text 12"/>
          <p:cNvSpPr txBox="1"/>
          <p:nvPr/>
        </p:nvSpPr>
        <p:spPr>
          <a:xfrm>
            <a:off x="3703320" y="20574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5" name="Text 13"/>
          <p:cNvSpPr txBox="1"/>
          <p:nvPr/>
        </p:nvSpPr>
        <p:spPr>
          <a:xfrm>
            <a:off x="3703320" y="2788920"/>
            <a:ext cx="1920240" cy="411480"/>
          </a:xfrm>
          <a:prstGeom prst="rect">
            <a:avLst/>
          </a:prstGeom>
          <a:noFill/>
          <a:ln/>
        </p:spPr>
        <p:txBody>
          <a:bodyPr wrap="square" lIns="0" tIns="0" rIns="0" bIns="0" rtlCol="0" anchor="ctr"/>
          <a:lstStyle/>
          <a:p>
            <a:pPr indent="0" marL="0">
              <a:buNone/>
            </a:pPr>
            <a:r>
              <a:rPr lang="en-US" sz="1900" b="1" dirty="0">
                <a:solidFill>
                  <a:srgbClr val="0B1F3A"/>
                </a:solidFill>
                <a:latin typeface="Cambria" pitchFamily="34" charset="0"/>
                <a:ea typeface="Cambria" pitchFamily="34" charset="-122"/>
                <a:cs typeface="Cambria" pitchFamily="34" charset="-120"/>
              </a:rPr>
              <a:t>Quick checks</a:t>
            </a:r>
            <a:endParaRPr lang="en-US" sz="1900" dirty="0"/>
          </a:p>
        </p:txBody>
      </p:sp>
      <p:sp>
        <p:nvSpPr>
          <p:cNvPr id="16" name="Text 14"/>
          <p:cNvSpPr txBox="1"/>
          <p:nvPr/>
        </p:nvSpPr>
        <p:spPr>
          <a:xfrm>
            <a:off x="3703320" y="3246120"/>
            <a:ext cx="1920240" cy="1371600"/>
          </a:xfrm>
          <a:prstGeom prst="rect">
            <a:avLst/>
          </a:prstGeom>
          <a:noFill/>
          <a:ln/>
        </p:spPr>
        <p:txBody>
          <a:bodyPr wrap="square" lIns="0" tIns="0" rIns="0" bIns="0" rtlCol="0" anchor="t"/>
          <a:lstStyle/>
          <a:p>
            <a:pPr indent="0" marL="0">
              <a:buNone/>
            </a:pPr>
            <a:r>
              <a:rPr lang="en-US" sz="1400" dirty="0">
                <a:solidFill>
                  <a:srgbClr val="1B2A41"/>
                </a:solidFill>
                <a:latin typeface="Calibri" pitchFamily="34" charset="0"/>
                <a:ea typeface="Calibri" pitchFamily="34" charset="-122"/>
                <a:cs typeface="Calibri" pitchFamily="34" charset="-120"/>
              </a:rPr>
              <a:t>Rule-based checks on URL patterns, urgency keywords and password patterns.</a:t>
            </a:r>
            <a:endParaRPr lang="en-US" sz="1400" dirty="0"/>
          </a:p>
        </p:txBody>
      </p:sp>
      <p:sp>
        <p:nvSpPr>
          <p:cNvPr id="17" name="Shape 15"/>
          <p:cNvSpPr/>
          <p:nvPr/>
        </p:nvSpPr>
        <p:spPr>
          <a:xfrm>
            <a:off x="5952744" y="3246120"/>
            <a:ext cx="301752" cy="0"/>
          </a:xfrm>
          <a:prstGeom prst="line">
            <a:avLst/>
          </a:prstGeom>
          <a:noFill/>
          <a:ln w="31750">
            <a:solidFill>
              <a:srgbClr val="00A896"/>
            </a:solidFill>
            <a:prstDash val="solid"/>
            <a:tailEnd type="triangle"/>
          </a:ln>
        </p:spPr>
      </p:sp>
      <p:sp>
        <p:nvSpPr>
          <p:cNvPr id="18" name="Shape 16"/>
          <p:cNvSpPr/>
          <p:nvPr/>
        </p:nvSpPr>
        <p:spPr>
          <a:xfrm>
            <a:off x="6309360" y="1783080"/>
            <a:ext cx="2468880" cy="2926080"/>
          </a:xfrm>
          <a:prstGeom prst="roundRect">
            <a:avLst>
              <a:gd name="adj" fmla="val 4444"/>
            </a:avLst>
          </a:prstGeom>
          <a:solidFill>
            <a:srgbClr val="0B1F3A"/>
          </a:solidFill>
          <a:ln w="12700">
            <a:solidFill>
              <a:srgbClr val="0B1F3A"/>
            </a:solidFill>
            <a:prstDash val="solid"/>
          </a:ln>
          <a:effectLst>
            <a:outerShdw sx="100000" sy="100000" kx="0" ky="0" algn="bl" rotWithShape="0" blurRad="101600" dist="25400" dir="5400000">
              <a:srgbClr val="000000">
                <a:alpha val="12000"/>
              </a:srgbClr>
            </a:outerShdw>
          </a:effectLst>
        </p:spPr>
      </p:sp>
      <p:sp>
        <p:nvSpPr>
          <p:cNvPr id="19" name="Shape 17"/>
          <p:cNvSpPr/>
          <p:nvPr/>
        </p:nvSpPr>
        <p:spPr>
          <a:xfrm>
            <a:off x="6583680" y="2057400"/>
            <a:ext cx="548640" cy="548640"/>
          </a:xfrm>
          <a:prstGeom prst="ellipse">
            <a:avLst/>
          </a:prstGeom>
          <a:solidFill>
            <a:srgbClr val="00A896"/>
          </a:solidFill>
          <a:ln w="12700">
            <a:solidFill>
              <a:srgbClr val="00A896"/>
            </a:solidFill>
            <a:prstDash val="solid"/>
          </a:ln>
        </p:spPr>
      </p:sp>
      <p:sp>
        <p:nvSpPr>
          <p:cNvPr id="20" name="Text 18"/>
          <p:cNvSpPr txBox="1"/>
          <p:nvPr/>
        </p:nvSpPr>
        <p:spPr>
          <a:xfrm>
            <a:off x="6583680" y="20574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9"/>
          <p:cNvSpPr txBox="1"/>
          <p:nvPr/>
        </p:nvSpPr>
        <p:spPr>
          <a:xfrm>
            <a:off x="6583680" y="2788920"/>
            <a:ext cx="1920240"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AI analysis</a:t>
            </a:r>
            <a:endParaRPr lang="en-US" sz="1900" dirty="0"/>
          </a:p>
        </p:txBody>
      </p:sp>
      <p:sp>
        <p:nvSpPr>
          <p:cNvPr id="22" name="Text 20"/>
          <p:cNvSpPr txBox="1"/>
          <p:nvPr/>
        </p:nvSpPr>
        <p:spPr>
          <a:xfrm>
            <a:off x="6583680" y="3246120"/>
            <a:ext cx="1920240" cy="137160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A language model understands the context, judges the risk and writes the explanation in simple words.</a:t>
            </a:r>
            <a:endParaRPr lang="en-US" sz="1400" dirty="0"/>
          </a:p>
        </p:txBody>
      </p:sp>
      <p:sp>
        <p:nvSpPr>
          <p:cNvPr id="23" name="Shape 21"/>
          <p:cNvSpPr/>
          <p:nvPr/>
        </p:nvSpPr>
        <p:spPr>
          <a:xfrm>
            <a:off x="8833104" y="3246120"/>
            <a:ext cx="301752" cy="0"/>
          </a:xfrm>
          <a:prstGeom prst="line">
            <a:avLst/>
          </a:prstGeom>
          <a:noFill/>
          <a:ln w="31750">
            <a:solidFill>
              <a:srgbClr val="00A896"/>
            </a:solidFill>
            <a:prstDash val="solid"/>
            <a:tailEnd type="triangle"/>
          </a:ln>
        </p:spPr>
      </p:sp>
      <p:sp>
        <p:nvSpPr>
          <p:cNvPr id="24" name="Shape 22"/>
          <p:cNvSpPr/>
          <p:nvPr/>
        </p:nvSpPr>
        <p:spPr>
          <a:xfrm>
            <a:off x="9189720" y="1783080"/>
            <a:ext cx="2468880" cy="2926080"/>
          </a:xfrm>
          <a:prstGeom prst="roundRect">
            <a:avLst>
              <a:gd name="adj" fmla="val 444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5" name="Shape 23"/>
          <p:cNvSpPr/>
          <p:nvPr/>
        </p:nvSpPr>
        <p:spPr>
          <a:xfrm>
            <a:off x="9464040" y="2057400"/>
            <a:ext cx="548640" cy="548640"/>
          </a:xfrm>
          <a:prstGeom prst="ellipse">
            <a:avLst/>
          </a:prstGeom>
          <a:solidFill>
            <a:srgbClr val="0B1F3A"/>
          </a:solidFill>
          <a:ln w="12700">
            <a:solidFill>
              <a:srgbClr val="0B1F3A"/>
            </a:solidFill>
            <a:prstDash val="solid"/>
          </a:ln>
        </p:spPr>
      </p:sp>
      <p:sp>
        <p:nvSpPr>
          <p:cNvPr id="26" name="Text 24"/>
          <p:cNvSpPr txBox="1"/>
          <p:nvPr/>
        </p:nvSpPr>
        <p:spPr>
          <a:xfrm>
            <a:off x="9464040" y="20574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7" name="Text 25"/>
          <p:cNvSpPr txBox="1"/>
          <p:nvPr/>
        </p:nvSpPr>
        <p:spPr>
          <a:xfrm>
            <a:off x="9464040" y="2788920"/>
            <a:ext cx="1920240" cy="411480"/>
          </a:xfrm>
          <a:prstGeom prst="rect">
            <a:avLst/>
          </a:prstGeom>
          <a:noFill/>
          <a:ln/>
        </p:spPr>
        <p:txBody>
          <a:bodyPr wrap="square" lIns="0" tIns="0" rIns="0" bIns="0" rtlCol="0" anchor="ctr"/>
          <a:lstStyle/>
          <a:p>
            <a:pPr indent="0" marL="0">
              <a:buNone/>
            </a:pPr>
            <a:r>
              <a:rPr lang="en-US" sz="1900" b="1" dirty="0">
                <a:solidFill>
                  <a:srgbClr val="0B1F3A"/>
                </a:solidFill>
                <a:latin typeface="Cambria" pitchFamily="34" charset="0"/>
                <a:ea typeface="Cambria" pitchFamily="34" charset="-122"/>
                <a:cs typeface="Cambria" pitchFamily="34" charset="-120"/>
              </a:rPr>
              <a:t>Clear output</a:t>
            </a:r>
            <a:endParaRPr lang="en-US" sz="1900" dirty="0"/>
          </a:p>
        </p:txBody>
      </p:sp>
      <p:sp>
        <p:nvSpPr>
          <p:cNvPr id="28" name="Text 26"/>
          <p:cNvSpPr txBox="1"/>
          <p:nvPr/>
        </p:nvSpPr>
        <p:spPr>
          <a:xfrm>
            <a:off x="9464040" y="3246120"/>
            <a:ext cx="1920240" cy="1371600"/>
          </a:xfrm>
          <a:prstGeom prst="rect">
            <a:avLst/>
          </a:prstGeom>
          <a:noFill/>
          <a:ln/>
        </p:spPr>
        <p:txBody>
          <a:bodyPr wrap="square" lIns="0" tIns="0" rIns="0" bIns="0" rtlCol="0" anchor="t"/>
          <a:lstStyle/>
          <a:p>
            <a:pPr indent="0" marL="0">
              <a:buNone/>
            </a:pPr>
            <a:r>
              <a:rPr lang="en-US" sz="1400" dirty="0">
                <a:solidFill>
                  <a:srgbClr val="1B2A41"/>
                </a:solidFill>
                <a:latin typeface="Calibri" pitchFamily="34" charset="0"/>
                <a:ea typeface="Calibri" pitchFamily="34" charset="-122"/>
                <a:cs typeface="Calibri" pitchFamily="34" charset="-120"/>
              </a:rPr>
              <a:t>Verdict, reasons, next steps and one safety tip the user can act on.</a:t>
            </a:r>
            <a:endParaRPr lang="en-US" sz="1400" dirty="0"/>
          </a:p>
        </p:txBody>
      </p:sp>
      <p:sp>
        <p:nvSpPr>
          <p:cNvPr id="29" name="Shape 27"/>
          <p:cNvSpPr/>
          <p:nvPr/>
        </p:nvSpPr>
        <p:spPr>
          <a:xfrm>
            <a:off x="548640" y="5120640"/>
            <a:ext cx="11109960" cy="868680"/>
          </a:xfrm>
          <a:prstGeom prst="roundRect">
            <a:avLst>
              <a:gd name="adj" fmla="val 12632"/>
            </a:avLst>
          </a:prstGeom>
          <a:solidFill>
            <a:srgbClr val="E3ECF6"/>
          </a:solidFill>
          <a:ln w="12700">
            <a:solidFill>
              <a:srgbClr val="E3ECF6"/>
            </a:solidFill>
            <a:prstDash val="solid"/>
          </a:ln>
        </p:spPr>
      </p:sp>
      <p:sp>
        <p:nvSpPr>
          <p:cNvPr id="30" name="Shape 28"/>
          <p:cNvSpPr/>
          <p:nvPr/>
        </p:nvSpPr>
        <p:spPr>
          <a:xfrm>
            <a:off x="868680" y="5285232"/>
            <a:ext cx="548640" cy="548640"/>
          </a:xfrm>
          <a:prstGeom prst="ellipse">
            <a:avLst/>
          </a:prstGeom>
          <a:solidFill>
            <a:srgbClr val="00A896"/>
          </a:solidFill>
          <a:ln w="12700">
            <a:solidFill>
              <a:srgbClr val="00A896"/>
            </a:solidFill>
            <a:prstDash val="solid"/>
          </a:ln>
        </p:spPr>
      </p:sp>
      <p:pic>
        <p:nvPicPr>
          <p:cNvPr id="31" name="Image 0" descr="preencoded.png">    </p:cNvPr>
          <p:cNvPicPr>
            <a:picLocks noChangeAspect="1"/>
          </p:cNvPicPr>
          <p:nvPr/>
        </p:nvPicPr>
        <p:blipFill>
          <a:blip r:embed="rId1"/>
          <a:stretch>
            <a:fillRect/>
          </a:stretch>
        </p:blipFill>
        <p:spPr>
          <a:xfrm>
            <a:off x="1022299" y="5438851"/>
            <a:ext cx="241402" cy="241402"/>
          </a:xfrm>
          <a:prstGeom prst="rect">
            <a:avLst/>
          </a:prstGeom>
        </p:spPr>
      </p:pic>
      <p:sp>
        <p:nvSpPr>
          <p:cNvPr id="32" name="Text 29"/>
          <p:cNvSpPr txBox="1"/>
          <p:nvPr/>
        </p:nvSpPr>
        <p:spPr>
          <a:xfrm>
            <a:off x="1645920" y="5120640"/>
            <a:ext cx="9738360" cy="86868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Feedback loop:  </a:t>
            </a:r>
            <a:pPr indent="0" marL="0">
              <a:buNone/>
            </a:pPr>
            <a:r>
              <a:rPr lang="en-US" sz="1600" dirty="0">
                <a:solidFill>
                  <a:srgbClr val="1B2A41"/>
                </a:solidFill>
                <a:latin typeface="Calibri" pitchFamily="34" charset="0"/>
                <a:ea typeface="Calibri" pitchFamily="34" charset="-122"/>
                <a:cs typeface="Calibri" pitchFamily="34" charset="-120"/>
              </a:rPr>
              <a:t>user reports and ratings help improve detection and explanations over time.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TECHNOLOGY</a:t>
            </a:r>
            <a:endParaRPr lang="en-US" sz="1200" dirty="0"/>
          </a:p>
        </p:txBody>
      </p:sp>
      <p:sp>
        <p:nvSpPr>
          <p:cNvPr id="3" name="Text 1"/>
          <p:cNvSpPr txBox="1"/>
          <p:nvPr/>
        </p:nvSpPr>
        <p:spPr>
          <a:xfrm>
            <a:off x="548640" y="685800"/>
            <a:ext cx="11109960" cy="731520"/>
          </a:xfrm>
          <a:prstGeom prst="rect">
            <a:avLst/>
          </a:prstGeom>
          <a:noFill/>
          <a:ln/>
        </p:spPr>
        <p:txBody>
          <a:bodyPr wrap="square" lIns="0" tIns="0" rIns="0" bIns="0" rtlCol="0" anchor="ctr"/>
          <a:lstStyle/>
          <a:p>
            <a:pPr indent="0" marL="0">
              <a:buNone/>
            </a:pPr>
            <a:r>
              <a:rPr lang="en-US" sz="3600" b="1" dirty="0">
                <a:solidFill>
                  <a:srgbClr val="0B1F3A"/>
                </a:solidFill>
                <a:latin typeface="Cambria" pitchFamily="34" charset="0"/>
                <a:ea typeface="Cambria" pitchFamily="34" charset="-122"/>
                <a:cs typeface="Cambria" pitchFamily="34" charset="-120"/>
              </a:rPr>
              <a:t>Proposed stack and responsible design</a:t>
            </a:r>
            <a:endParaRPr lang="en-US" sz="36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AI Financial Literacy Advisor  |  AI for Cybersecurity Awareness</a:t>
            </a:r>
            <a:endParaRPr lang="en-US" sz="1000" dirty="0"/>
          </a:p>
        </p:txBody>
      </p:sp>
      <p:sp>
        <p:nvSpPr>
          <p:cNvPr id="5" name="Text 3"/>
          <p:cNvSpPr txBox="1"/>
          <p:nvPr/>
        </p:nvSpPr>
        <p:spPr>
          <a:xfrm>
            <a:off x="10744200" y="6400800"/>
            <a:ext cx="91440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492240" cy="914400"/>
        </p:xfrm>
        <a:graphic>
          <a:graphicData uri="http://schemas.openxmlformats.org/drawingml/2006/table">
            <a:tbl>
              <a:tblPr/>
              <a:tblGrid>
                <a:gridCol w="1554480"/>
                <a:gridCol w="493776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Proposed choice</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0B1F3A"/>
                    </a:solidFill>
                  </a:tcPr>
                </a:tc>
              </a:tr>
              <a:tr h="685800">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Frontend</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Responsive web app (HTML, CSS, JavaScript); browser extension in a later phase</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Backend</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Python (Flask or FastAPI) REST API</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r>
              <a:tr h="685800">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AI analysis</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Language-model analysis for phishing detection and plain-language explanations</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r>
              <a:tr h="685800">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Checks</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Rule-based URL, keyword and password-pattern checks alongside AI</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r>
              <a:tr h="685800">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Data</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Minimal data kept; HTTPS; library of awareness lessons and quizzes</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r>
              <a:tr h="594360">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Built with</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IBM Bob, the AI development assistant, to generate, debug and document the code</a:t>
                      </a:r>
                      <a:endParaRPr lang="en-US" sz="1400" dirty="0">
                        <a:latin typeface="Calibri" charset="0"/>
                        <a:ea typeface="Calibri" charset="0"/>
                        <a:cs typeface="Calibri" charset="0"/>
                      </a:endParaRPr>
                    </a:p>
                  </a:txBody>
                  <a:tcPr marL="109728" marR="109728" marT="0" marB="0" anchor="ctr">
                    <a:lnL w="12700" cap="flat" cmpd="sng" algn="ctr">
                      <a:solidFill>
                        <a:srgbClr val="D6DEE8"/>
                      </a:solidFill>
                      <a:prstDash val="solid"/>
                      <a:round/>
                      <a:headEnd type="none" w="med" len="med"/>
                      <a:tailEnd type="none" w="med" len="med"/>
                    </a:lnL>
                    <a:lnR w="12700" cap="flat" cmpd="sng" algn="ctr">
                      <a:solidFill>
                        <a:srgbClr val="D6DEE8"/>
                      </a:solidFill>
                      <a:prstDash val="solid"/>
                      <a:round/>
                      <a:headEnd type="none" w="med" len="med"/>
                      <a:tailEnd type="none" w="med" len="med"/>
                    </a:lnR>
                    <a:lnT w="12700" cap="flat" cmpd="sng" algn="ctr">
                      <a:solidFill>
                        <a:srgbClr val="D6DEE8"/>
                      </a:solidFill>
                      <a:prstDash val="solid"/>
                      <a:round/>
                      <a:headEnd type="none" w="med" len="med"/>
                      <a:tailEnd type="none" w="med" len="med"/>
                    </a:lnT>
                    <a:lnB w="12700" cap="flat" cmpd="sng" algn="ctr">
                      <a:solidFill>
                        <a:srgbClr val="D6DEE8"/>
                      </a:solidFill>
                      <a:prstDash val="solid"/>
                      <a:round/>
                      <a:headEnd type="none" w="med" len="med"/>
                      <a:tailEnd type="none" w="med" len="med"/>
                    </a:lnB>
                    <a:solidFill>
                      <a:srgbClr val="FFFFFF"/>
                    </a:solidFill>
                  </a:tcPr>
                </a:tc>
              </a:tr>
            </a:tbl>
          </a:graphicData>
        </a:graphic>
      </p:graphicFrame>
      <p:sp>
        <p:nvSpPr>
          <p:cNvPr id="7" name="Shape 4"/>
          <p:cNvSpPr/>
          <p:nvPr/>
        </p:nvSpPr>
        <p:spPr>
          <a:xfrm>
            <a:off x="7360920" y="1691640"/>
            <a:ext cx="4297680" cy="4343400"/>
          </a:xfrm>
          <a:prstGeom prst="roundRect">
            <a:avLst>
              <a:gd name="adj" fmla="val 2553"/>
            </a:avLst>
          </a:prstGeom>
          <a:solidFill>
            <a:srgbClr val="0B1F3A"/>
          </a:solidFill>
          <a:ln w="12700">
            <a:solidFill>
              <a:srgbClr val="0B1F3A"/>
            </a:solidFill>
            <a:prstDash val="solid"/>
          </a:ln>
          <a:effectLst>
            <a:outerShdw sx="100000" sy="100000" kx="0" ky="0" algn="bl" rotWithShape="0" blurRad="101600" dist="25400" dir="5400000">
              <a:srgbClr val="000000">
                <a:alpha val="12000"/>
              </a:srgbClr>
            </a:outerShdw>
          </a:effectLst>
        </p:spPr>
      </p:sp>
      <p:sp>
        <p:nvSpPr>
          <p:cNvPr id="8" name="Shape 5"/>
          <p:cNvSpPr/>
          <p:nvPr/>
        </p:nvSpPr>
        <p:spPr>
          <a:xfrm>
            <a:off x="7726680" y="1965960"/>
            <a:ext cx="731520" cy="731520"/>
          </a:xfrm>
          <a:prstGeom prst="ellipse">
            <a:avLst/>
          </a:prstGeom>
          <a:solidFill>
            <a:srgbClr val="00A896"/>
          </a:solidFill>
          <a:ln w="12700">
            <a:solidFill>
              <a:srgbClr val="00A896"/>
            </a:solidFill>
            <a:prstDash val="solid"/>
          </a:ln>
        </p:spPr>
      </p:sp>
      <p:pic>
        <p:nvPicPr>
          <p:cNvPr id="9" name="Image 0" descr="preencoded.png">    </p:cNvPr>
          <p:cNvPicPr>
            <a:picLocks noChangeAspect="1"/>
          </p:cNvPicPr>
          <p:nvPr/>
        </p:nvPicPr>
        <p:blipFill>
          <a:blip r:embed="rId1"/>
          <a:stretch>
            <a:fillRect/>
          </a:stretch>
        </p:blipFill>
        <p:spPr>
          <a:xfrm>
            <a:off x="7931506" y="2170786"/>
            <a:ext cx="321869" cy="321869"/>
          </a:xfrm>
          <a:prstGeom prst="rect">
            <a:avLst/>
          </a:prstGeom>
        </p:spPr>
      </p:pic>
      <p:sp>
        <p:nvSpPr>
          <p:cNvPr id="10" name="Text 6"/>
          <p:cNvSpPr txBox="1"/>
          <p:nvPr/>
        </p:nvSpPr>
        <p:spPr>
          <a:xfrm>
            <a:off x="8595360" y="1965960"/>
            <a:ext cx="292608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Responsible by design</a:t>
            </a:r>
            <a:endParaRPr lang="en-US" sz="2200" dirty="0"/>
          </a:p>
        </p:txBody>
      </p:sp>
      <p:sp>
        <p:nvSpPr>
          <p:cNvPr id="11" name="Text 7"/>
          <p:cNvSpPr txBox="1"/>
          <p:nvPr/>
        </p:nvSpPr>
        <p:spPr>
          <a:xfrm>
            <a:off x="7726680" y="3017520"/>
            <a:ext cx="3611880" cy="28346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Privacy first</a:t>
            </a:r>
            <a:endParaRPr lang="en-US" sz="1600" dirty="0"/>
          </a:p>
          <a:p>
            <a:pPr indent="0" marL="0">
              <a:buNone/>
            </a:pPr>
            <a:r>
              <a:rPr lang="en-US" sz="1400" dirty="0">
                <a:solidFill>
                  <a:srgbClr val="CADCFC"/>
                </a:solidFill>
                <a:latin typeface="Calibri" pitchFamily="34" charset="0"/>
                <a:ea typeface="Calibri" pitchFamily="34" charset="-122"/>
                <a:cs typeface="Calibri" pitchFamily="34" charset="-120"/>
              </a:rPr>
              <a:t>Sensitive inputs like passwords stay on the device.</a:t>
            </a:r>
            <a:endParaRPr lang="en-US" sz="16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Explainable</a:t>
            </a:r>
            <a:endParaRPr lang="en-US" sz="1600" dirty="0"/>
          </a:p>
          <a:p>
            <a:pPr indent="0" marL="0">
              <a:buNone/>
            </a:pPr>
            <a:r>
              <a:rPr lang="en-US" sz="1400" dirty="0">
                <a:solidFill>
                  <a:srgbClr val="CADCFC"/>
                </a:solidFill>
                <a:latin typeface="Calibri" pitchFamily="34" charset="0"/>
                <a:ea typeface="Calibri" pitchFamily="34" charset="-122"/>
                <a:cs typeface="Calibri" pitchFamily="34" charset="-120"/>
              </a:rPr>
              <a:t>Every verdict comes with reasons in simple words.</a:t>
            </a:r>
            <a:endParaRPr lang="en-US" sz="16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Honest about limits</a:t>
            </a:r>
            <a:endParaRPr lang="en-US" sz="1600" dirty="0"/>
          </a:p>
          <a:p>
            <a:pPr indent="0" marL="0">
              <a:buNone/>
            </a:pPr>
            <a:r>
              <a:rPr lang="en-US" sz="1400" dirty="0">
                <a:solidFill>
                  <a:srgbClr val="CADCFC"/>
                </a:solidFill>
                <a:latin typeface="Calibri" pitchFamily="34" charset="0"/>
                <a:ea typeface="Calibri" pitchFamily="34" charset="-122"/>
                <a:cs typeface="Calibri" pitchFamily="34" charset="-120"/>
              </a:rPr>
              <a:t>AI guidance supports users; it does not replace official channels.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548640" y="685800"/>
            <a:ext cx="11109960" cy="731520"/>
          </a:xfrm>
          <a:prstGeom prst="rect">
            <a:avLst/>
          </a:prstGeom>
          <a:noFill/>
          <a:ln/>
        </p:spPr>
        <p:txBody>
          <a:bodyPr wrap="square" lIns="0" tIns="0" rIns="0" bIns="0" rtlCol="0" anchor="ctr"/>
          <a:lstStyle/>
          <a:p>
            <a:pPr indent="0" marL="0">
              <a:buNone/>
            </a:pPr>
            <a:r>
              <a:rPr lang="en-US" sz="3600" b="1" dirty="0">
                <a:solidFill>
                  <a:srgbClr val="0B1F3A"/>
                </a:solidFill>
                <a:latin typeface="Cambria" pitchFamily="34" charset="0"/>
                <a:ea typeface="Cambria" pitchFamily="34" charset="-122"/>
                <a:cs typeface="Cambria" pitchFamily="34" charset="-120"/>
              </a:rPr>
              <a:t>From prototype to scale</a:t>
            </a:r>
            <a:endParaRPr lang="en-US" sz="36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AI Financial Literacy Advisor  |  AI for Cybersecurity Awareness</a:t>
            </a:r>
            <a:endParaRPr lang="en-US" sz="1000" dirty="0"/>
          </a:p>
        </p:txBody>
      </p:sp>
      <p:sp>
        <p:nvSpPr>
          <p:cNvPr id="5" name="Text 3"/>
          <p:cNvSpPr txBox="1"/>
          <p:nvPr/>
        </p:nvSpPr>
        <p:spPr>
          <a:xfrm>
            <a:off x="10744200" y="6400800"/>
            <a:ext cx="91440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2308860" y="2194560"/>
            <a:ext cx="7589520" cy="0"/>
          </a:xfrm>
          <a:prstGeom prst="line">
            <a:avLst/>
          </a:prstGeom>
          <a:noFill/>
          <a:ln w="38100">
            <a:solidFill>
              <a:srgbClr val="D6DEE8"/>
            </a:solidFill>
            <a:prstDash val="solid"/>
          </a:ln>
        </p:spPr>
      </p:sp>
      <p:sp>
        <p:nvSpPr>
          <p:cNvPr id="7" name="Shape 5"/>
          <p:cNvSpPr/>
          <p:nvPr/>
        </p:nvSpPr>
        <p:spPr>
          <a:xfrm>
            <a:off x="1943100" y="1828800"/>
            <a:ext cx="731520" cy="731520"/>
          </a:xfrm>
          <a:prstGeom prst="ellipse">
            <a:avLst/>
          </a:prstGeom>
          <a:solidFill>
            <a:srgbClr val="00A896"/>
          </a:solidFill>
          <a:ln w="38100">
            <a:solidFill>
              <a:srgbClr val="F4F7FA"/>
            </a:solidFill>
            <a:prstDash val="solid"/>
          </a:ln>
        </p:spPr>
      </p:sp>
      <p:sp>
        <p:nvSpPr>
          <p:cNvPr id="8" name="Text 6"/>
          <p:cNvSpPr txBox="1"/>
          <p:nvPr/>
        </p:nvSpPr>
        <p:spPr>
          <a:xfrm>
            <a:off x="1943100" y="18288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9" name="Shape 7"/>
          <p:cNvSpPr/>
          <p:nvPr/>
        </p:nvSpPr>
        <p:spPr>
          <a:xfrm>
            <a:off x="548640" y="2880360"/>
            <a:ext cx="3520440" cy="3017520"/>
          </a:xfrm>
          <a:prstGeom prst="roundRect">
            <a:avLst>
              <a:gd name="adj" fmla="val 363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868680" y="3108960"/>
            <a:ext cx="2926080" cy="45720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Phase 1: Prototype</a:t>
            </a:r>
            <a:endParaRPr lang="en-US" sz="2000" dirty="0"/>
          </a:p>
        </p:txBody>
      </p:sp>
      <p:sp>
        <p:nvSpPr>
          <p:cNvPr id="11" name="Text 9"/>
          <p:cNvSpPr txBox="1"/>
          <p:nvPr/>
        </p:nvSpPr>
        <p:spPr>
          <a:xfrm>
            <a:off x="868680" y="3703320"/>
            <a:ext cx="292608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A41"/>
                </a:solidFill>
                <a:latin typeface="Calibri" pitchFamily="34" charset="0"/>
                <a:ea typeface="Calibri" pitchFamily="34" charset="-122"/>
                <a:cs typeface="Calibri" pitchFamily="34" charset="-120"/>
              </a:rPr>
              <a:t>"Is this safe?" analyzer for messages and links</a:t>
            </a:r>
            <a:endParaRPr lang="en-US" sz="1600" dirty="0"/>
          </a:p>
          <a:p>
            <a:pPr marL="342900" indent="-342900">
              <a:spcAft>
                <a:spcPts val="1000"/>
              </a:spcAft>
              <a:buSzPct val="100000"/>
              <a:buChar char="•"/>
            </a:pPr>
            <a:r>
              <a:rPr lang="en-US" sz="1600" dirty="0">
                <a:solidFill>
                  <a:srgbClr val="1B2A41"/>
                </a:solidFill>
                <a:latin typeface="Calibri" pitchFamily="34" charset="0"/>
                <a:ea typeface="Calibri" pitchFamily="34" charset="-122"/>
                <a:cs typeface="Calibri" pitchFamily="34" charset="-120"/>
              </a:rPr>
              <a:t>Simple web interface</a:t>
            </a:r>
            <a:endParaRPr lang="en-US" sz="1600" dirty="0"/>
          </a:p>
          <a:p>
            <a:pPr marL="342900" indent="-342900">
              <a:spcAft>
                <a:spcPts val="1000"/>
              </a:spcAft>
              <a:buSzPct val="100000"/>
              <a:buChar char="•"/>
            </a:pPr>
            <a:r>
              <a:rPr lang="en-US" sz="1600" dirty="0">
                <a:solidFill>
                  <a:srgbClr val="1B2A41"/>
                </a:solidFill>
                <a:latin typeface="Calibri" pitchFamily="34" charset="0"/>
                <a:ea typeface="Calibri" pitchFamily="34" charset="-122"/>
                <a:cs typeface="Calibri" pitchFamily="34" charset="-120"/>
              </a:rPr>
              <a:t>Test with sample phishing cases</a:t>
            </a:r>
            <a:endParaRPr lang="en-US" sz="1600" dirty="0"/>
          </a:p>
        </p:txBody>
      </p:sp>
      <p:sp>
        <p:nvSpPr>
          <p:cNvPr id="12" name="Shape 10"/>
          <p:cNvSpPr/>
          <p:nvPr/>
        </p:nvSpPr>
        <p:spPr>
          <a:xfrm>
            <a:off x="5737860" y="1828800"/>
            <a:ext cx="731520" cy="731520"/>
          </a:xfrm>
          <a:prstGeom prst="ellipse">
            <a:avLst/>
          </a:prstGeom>
          <a:solidFill>
            <a:srgbClr val="C99700"/>
          </a:solidFill>
          <a:ln w="38100">
            <a:solidFill>
              <a:srgbClr val="F4F7FA"/>
            </a:solidFill>
            <a:prstDash val="solid"/>
          </a:ln>
        </p:spPr>
      </p:sp>
      <p:sp>
        <p:nvSpPr>
          <p:cNvPr id="13" name="Text 11"/>
          <p:cNvSpPr txBox="1"/>
          <p:nvPr/>
        </p:nvSpPr>
        <p:spPr>
          <a:xfrm>
            <a:off x="5737860" y="18288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Shape 12"/>
          <p:cNvSpPr/>
          <p:nvPr/>
        </p:nvSpPr>
        <p:spPr>
          <a:xfrm>
            <a:off x="4343400" y="2880360"/>
            <a:ext cx="3520440" cy="3017520"/>
          </a:xfrm>
          <a:prstGeom prst="roundRect">
            <a:avLst>
              <a:gd name="adj" fmla="val 363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4663440" y="3108960"/>
            <a:ext cx="2926080" cy="45720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Phase 2: Expand</a:t>
            </a:r>
            <a:endParaRPr lang="en-US" sz="2000" dirty="0"/>
          </a:p>
        </p:txBody>
      </p:sp>
      <p:sp>
        <p:nvSpPr>
          <p:cNvPr id="16" name="Text 14"/>
          <p:cNvSpPr txBox="1"/>
          <p:nvPr/>
        </p:nvSpPr>
        <p:spPr>
          <a:xfrm>
            <a:off x="4663440" y="3703320"/>
            <a:ext cx="292608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A41"/>
                </a:solidFill>
                <a:latin typeface="Calibri" pitchFamily="34" charset="0"/>
                <a:ea typeface="Calibri" pitchFamily="34" charset="-122"/>
                <a:cs typeface="Calibri" pitchFamily="34" charset="-120"/>
              </a:rPr>
              <a:t>Password strength + behaviour advisor</a:t>
            </a:r>
            <a:endParaRPr lang="en-US" sz="1600" dirty="0"/>
          </a:p>
          <a:p>
            <a:pPr marL="342900" indent="-342900">
              <a:spcAft>
                <a:spcPts val="1000"/>
              </a:spcAft>
              <a:buSzPct val="100000"/>
              <a:buChar char="•"/>
            </a:pPr>
            <a:r>
              <a:rPr lang="en-US" sz="1600" dirty="0">
                <a:solidFill>
                  <a:srgbClr val="1B2A41"/>
                </a:solidFill>
                <a:latin typeface="Calibri" pitchFamily="34" charset="0"/>
                <a:ea typeface="Calibri" pitchFamily="34" charset="-122"/>
                <a:cs typeface="Calibri" pitchFamily="34" charset="-120"/>
              </a:rPr>
              <a:t>Beginner awareness chatbot</a:t>
            </a:r>
            <a:endParaRPr lang="en-US" sz="1600" dirty="0"/>
          </a:p>
          <a:p>
            <a:pPr marL="342900" indent="-342900">
              <a:spcAft>
                <a:spcPts val="1000"/>
              </a:spcAft>
              <a:buSzPct val="100000"/>
              <a:buChar char="•"/>
            </a:pPr>
            <a:r>
              <a:rPr lang="en-US" sz="1600" dirty="0">
                <a:solidFill>
                  <a:srgbClr val="1B2A41"/>
                </a:solidFill>
                <a:latin typeface="Calibri" pitchFamily="34" charset="0"/>
                <a:ea typeface="Calibri" pitchFamily="34" charset="-122"/>
                <a:cs typeface="Calibri" pitchFamily="34" charset="-120"/>
              </a:rPr>
              <a:t>Mini quizzes and lessons</a:t>
            </a:r>
            <a:endParaRPr lang="en-US" sz="1600" dirty="0"/>
          </a:p>
        </p:txBody>
      </p:sp>
      <p:sp>
        <p:nvSpPr>
          <p:cNvPr id="17" name="Shape 15"/>
          <p:cNvSpPr/>
          <p:nvPr/>
        </p:nvSpPr>
        <p:spPr>
          <a:xfrm>
            <a:off x="9532620" y="1828800"/>
            <a:ext cx="731520" cy="731520"/>
          </a:xfrm>
          <a:prstGeom prst="ellipse">
            <a:avLst/>
          </a:prstGeom>
          <a:solidFill>
            <a:srgbClr val="16335C"/>
          </a:solidFill>
          <a:ln w="38100">
            <a:solidFill>
              <a:srgbClr val="F4F7FA"/>
            </a:solidFill>
            <a:prstDash val="solid"/>
          </a:ln>
        </p:spPr>
      </p:sp>
      <p:sp>
        <p:nvSpPr>
          <p:cNvPr id="18" name="Text 16"/>
          <p:cNvSpPr txBox="1"/>
          <p:nvPr/>
        </p:nvSpPr>
        <p:spPr>
          <a:xfrm>
            <a:off x="9532620" y="18288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9" name="Shape 17"/>
          <p:cNvSpPr/>
          <p:nvPr/>
        </p:nvSpPr>
        <p:spPr>
          <a:xfrm>
            <a:off x="8138160" y="2880360"/>
            <a:ext cx="3520440" cy="3017520"/>
          </a:xfrm>
          <a:prstGeom prst="roundRect">
            <a:avLst>
              <a:gd name="adj" fmla="val 363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8458200" y="3108960"/>
            <a:ext cx="2926080" cy="457200"/>
          </a:xfrm>
          <a:prstGeom prst="rect">
            <a:avLst/>
          </a:prstGeom>
          <a:noFill/>
          <a:ln/>
        </p:spPr>
        <p:txBody>
          <a:bodyPr wrap="square" lIns="0" tIns="0" rIns="0" bIns="0" rtlCol="0" anchor="ctr"/>
          <a:lstStyle/>
          <a:p>
            <a:pPr indent="0" marL="0">
              <a:buNone/>
            </a:pPr>
            <a:r>
              <a:rPr lang="en-US" sz="2000" b="1" dirty="0">
                <a:solidFill>
                  <a:srgbClr val="0B1F3A"/>
                </a:solidFill>
                <a:latin typeface="Cambria" pitchFamily="34" charset="0"/>
                <a:ea typeface="Cambria" pitchFamily="34" charset="-122"/>
                <a:cs typeface="Cambria" pitchFamily="34" charset="-120"/>
              </a:rPr>
              <a:t>Phase 3: Scale</a:t>
            </a:r>
            <a:endParaRPr lang="en-US" sz="2000" dirty="0"/>
          </a:p>
        </p:txBody>
      </p:sp>
      <p:sp>
        <p:nvSpPr>
          <p:cNvPr id="21" name="Text 19"/>
          <p:cNvSpPr txBox="1"/>
          <p:nvPr/>
        </p:nvSpPr>
        <p:spPr>
          <a:xfrm>
            <a:off x="8458200" y="3703320"/>
            <a:ext cx="292608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A41"/>
                </a:solidFill>
                <a:latin typeface="Calibri" pitchFamily="34" charset="0"/>
                <a:ea typeface="Calibri" pitchFamily="34" charset="-122"/>
                <a:cs typeface="Calibri" pitchFamily="34" charset="-120"/>
              </a:rPr>
              <a:t>Browser extension and mobile app</a:t>
            </a:r>
            <a:endParaRPr lang="en-US" sz="1600" dirty="0"/>
          </a:p>
          <a:p>
            <a:pPr marL="342900" indent="-342900">
              <a:spcAft>
                <a:spcPts val="1000"/>
              </a:spcAft>
              <a:buSzPct val="100000"/>
              <a:buChar char="•"/>
            </a:pPr>
            <a:r>
              <a:rPr lang="en-US" sz="1600" dirty="0">
                <a:solidFill>
                  <a:srgbClr val="1B2A41"/>
                </a:solidFill>
                <a:latin typeface="Calibri" pitchFamily="34" charset="0"/>
                <a:ea typeface="Calibri" pitchFamily="34" charset="-122"/>
                <a:cs typeface="Calibri" pitchFamily="34" charset="-120"/>
              </a:rPr>
              <a:t>Regional-language support</a:t>
            </a:r>
            <a:endParaRPr lang="en-US" sz="1600" dirty="0"/>
          </a:p>
          <a:p>
            <a:pPr marL="342900" indent="-342900">
              <a:spcAft>
                <a:spcPts val="1000"/>
              </a:spcAft>
              <a:buSzPct val="100000"/>
              <a:buChar char="•"/>
            </a:pPr>
            <a:r>
              <a:rPr lang="en-US" sz="1600" dirty="0">
                <a:solidFill>
                  <a:srgbClr val="1B2A41"/>
                </a:solidFill>
                <a:latin typeface="Calibri" pitchFamily="34" charset="0"/>
                <a:ea typeface="Calibri" pitchFamily="34" charset="-122"/>
                <a:cs typeface="Calibri" pitchFamily="34" charset="-120"/>
              </a:rPr>
              <a:t>Community scam reporting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IMPACT</a:t>
            </a:r>
            <a:endParaRPr lang="en-US" sz="1200" dirty="0"/>
          </a:p>
        </p:txBody>
      </p:sp>
      <p:sp>
        <p:nvSpPr>
          <p:cNvPr id="3" name="Text 1"/>
          <p:cNvSpPr txBox="1"/>
          <p:nvPr/>
        </p:nvSpPr>
        <p:spPr>
          <a:xfrm>
            <a:off x="548640" y="685800"/>
            <a:ext cx="11109960" cy="731520"/>
          </a:xfrm>
          <a:prstGeom prst="rect">
            <a:avLst/>
          </a:prstGeom>
          <a:noFill/>
          <a:ln/>
        </p:spPr>
        <p:txBody>
          <a:bodyPr wrap="square" lIns="0" tIns="0" rIns="0" bIns="0" rtlCol="0" anchor="ctr"/>
          <a:lstStyle/>
          <a:p>
            <a:pPr indent="0" marL="0">
              <a:buNone/>
            </a:pPr>
            <a:r>
              <a:rPr lang="en-US" sz="3600" b="1" dirty="0">
                <a:solidFill>
                  <a:srgbClr val="0B1F3A"/>
                </a:solidFill>
                <a:latin typeface="Cambria" pitchFamily="34" charset="0"/>
                <a:ea typeface="Cambria" pitchFamily="34" charset="-122"/>
                <a:cs typeface="Cambria" pitchFamily="34" charset="-120"/>
              </a:rPr>
              <a:t>Who benefits and how we measure it</a:t>
            </a:r>
            <a:endParaRPr lang="en-US" sz="36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AI Financial Literacy Advisor  |  AI for Cybersecurity Awareness</a:t>
            </a:r>
            <a:endParaRPr lang="en-US" sz="1000" dirty="0"/>
          </a:p>
        </p:txBody>
      </p:sp>
      <p:sp>
        <p:nvSpPr>
          <p:cNvPr id="5" name="Text 3"/>
          <p:cNvSpPr txBox="1"/>
          <p:nvPr/>
        </p:nvSpPr>
        <p:spPr>
          <a:xfrm>
            <a:off x="10744200" y="6400800"/>
            <a:ext cx="914400" cy="274320"/>
          </a:xfrm>
          <a:prstGeom prst="rect">
            <a:avLst/>
          </a:prstGeom>
          <a:noFill/>
          <a:ln/>
        </p:spPr>
        <p:txBody>
          <a:bodyPr wrap="square" lIns="0" tIns="0" rIns="0" bIns="0"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640" y="1691640"/>
            <a:ext cx="3063240"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822960" y="1947672"/>
            <a:ext cx="640080" cy="640080"/>
          </a:xfrm>
          <a:prstGeom prst="ellipse">
            <a:avLst/>
          </a:prstGeom>
          <a:solidFill>
            <a:srgbClr val="00A896"/>
          </a:solidFill>
          <a:ln w="12700">
            <a:solidFill>
              <a:srgbClr val="00A896"/>
            </a:solidFill>
            <a:prstDash val="solid"/>
          </a:ln>
        </p:spPr>
      </p:sp>
      <p:pic>
        <p:nvPicPr>
          <p:cNvPr id="8" name="Image 0" descr="preencoded.png">    </p:cNvPr>
          <p:cNvPicPr>
            <a:picLocks noChangeAspect="1"/>
          </p:cNvPicPr>
          <p:nvPr/>
        </p:nvPicPr>
        <p:blipFill>
          <a:blip r:embed="rId1"/>
          <a:stretch>
            <a:fillRect/>
          </a:stretch>
        </p:blipFill>
        <p:spPr>
          <a:xfrm>
            <a:off x="1002182" y="2126894"/>
            <a:ext cx="281635" cy="281635"/>
          </a:xfrm>
          <a:prstGeom prst="rect">
            <a:avLst/>
          </a:prstGeom>
        </p:spPr>
      </p:pic>
      <p:sp>
        <p:nvSpPr>
          <p:cNvPr id="9" name="Text 6"/>
          <p:cNvSpPr txBox="1"/>
          <p:nvPr/>
        </p:nvSpPr>
        <p:spPr>
          <a:xfrm>
            <a:off x="822960" y="2697480"/>
            <a:ext cx="2560320" cy="32004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First-time users</a:t>
            </a:r>
            <a:endParaRPr lang="en-US" sz="1600" dirty="0"/>
          </a:p>
        </p:txBody>
      </p:sp>
      <p:sp>
        <p:nvSpPr>
          <p:cNvPr id="10" name="Text 7"/>
          <p:cNvSpPr txBox="1"/>
          <p:nvPr/>
        </p:nvSpPr>
        <p:spPr>
          <a:xfrm>
            <a:off x="822960" y="3044952"/>
            <a:ext cx="2560320" cy="594360"/>
          </a:xfrm>
          <a:prstGeom prst="rect">
            <a:avLst/>
          </a:prstGeom>
          <a:noFill/>
          <a:ln/>
        </p:spPr>
        <p:txBody>
          <a:bodyPr wrap="square" lIns="0" tIns="0" rIns="0" bIns="0" rtlCol="0" anchor="t"/>
          <a:lstStyle/>
          <a:p>
            <a:pPr indent="0" marL="0">
              <a:buNone/>
            </a:pPr>
            <a:r>
              <a:rPr lang="en-US" sz="1350" dirty="0">
                <a:solidFill>
                  <a:srgbClr val="1B2A41"/>
                </a:solidFill>
                <a:latin typeface="Calibri" pitchFamily="34" charset="0"/>
                <a:ea typeface="Calibri" pitchFamily="34" charset="-122"/>
                <a:cs typeface="Calibri" pitchFamily="34" charset="-120"/>
              </a:rPr>
              <a:t>Students and new internet users learn safe habits from day one.</a:t>
            </a:r>
            <a:endParaRPr lang="en-US" sz="1350" dirty="0"/>
          </a:p>
        </p:txBody>
      </p:sp>
      <p:sp>
        <p:nvSpPr>
          <p:cNvPr id="11" name="Shape 8"/>
          <p:cNvSpPr/>
          <p:nvPr/>
        </p:nvSpPr>
        <p:spPr>
          <a:xfrm>
            <a:off x="3886200" y="1691640"/>
            <a:ext cx="3063240"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160520" y="1947672"/>
            <a:ext cx="640080" cy="640080"/>
          </a:xfrm>
          <a:prstGeom prst="ellipse">
            <a:avLst/>
          </a:prstGeom>
          <a:solidFill>
            <a:srgbClr val="C99700"/>
          </a:solidFill>
          <a:ln w="12700">
            <a:solidFill>
              <a:srgbClr val="C99700"/>
            </a:solidFill>
            <a:prstDash val="solid"/>
          </a:ln>
        </p:spPr>
      </p:sp>
      <p:pic>
        <p:nvPicPr>
          <p:cNvPr id="13" name="Image 1" descr="preencoded.png">    </p:cNvPr>
          <p:cNvPicPr>
            <a:picLocks noChangeAspect="1"/>
          </p:cNvPicPr>
          <p:nvPr/>
        </p:nvPicPr>
        <p:blipFill>
          <a:blip r:embed="rId2"/>
          <a:stretch>
            <a:fillRect/>
          </a:stretch>
        </p:blipFill>
        <p:spPr>
          <a:xfrm>
            <a:off x="4339742" y="2126894"/>
            <a:ext cx="281635" cy="281635"/>
          </a:xfrm>
          <a:prstGeom prst="rect">
            <a:avLst/>
          </a:prstGeom>
        </p:spPr>
      </p:pic>
      <p:sp>
        <p:nvSpPr>
          <p:cNvPr id="14" name="Text 10"/>
          <p:cNvSpPr txBox="1"/>
          <p:nvPr/>
        </p:nvSpPr>
        <p:spPr>
          <a:xfrm>
            <a:off x="4160520" y="2697480"/>
            <a:ext cx="2560320" cy="32004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Senior citizens</a:t>
            </a:r>
            <a:endParaRPr lang="en-US" sz="1600" dirty="0"/>
          </a:p>
        </p:txBody>
      </p:sp>
      <p:sp>
        <p:nvSpPr>
          <p:cNvPr id="15" name="Text 11"/>
          <p:cNvSpPr txBox="1"/>
          <p:nvPr/>
        </p:nvSpPr>
        <p:spPr>
          <a:xfrm>
            <a:off x="4160520" y="3044952"/>
            <a:ext cx="2560320" cy="594360"/>
          </a:xfrm>
          <a:prstGeom prst="rect">
            <a:avLst/>
          </a:prstGeom>
          <a:noFill/>
          <a:ln/>
        </p:spPr>
        <p:txBody>
          <a:bodyPr wrap="square" lIns="0" tIns="0" rIns="0" bIns="0" rtlCol="0" anchor="t"/>
          <a:lstStyle/>
          <a:p>
            <a:pPr indent="0" marL="0">
              <a:buNone/>
            </a:pPr>
            <a:r>
              <a:rPr lang="en-US" sz="1350" dirty="0">
                <a:solidFill>
                  <a:srgbClr val="1B2A41"/>
                </a:solidFill>
                <a:latin typeface="Calibri" pitchFamily="34" charset="0"/>
                <a:ea typeface="Calibri" pitchFamily="34" charset="-122"/>
                <a:cs typeface="Calibri" pitchFamily="34" charset="-120"/>
              </a:rPr>
              <a:t>Get a trusted second opinion before clicking or paying.</a:t>
            </a:r>
            <a:endParaRPr lang="en-US" sz="1350" dirty="0"/>
          </a:p>
        </p:txBody>
      </p:sp>
      <p:sp>
        <p:nvSpPr>
          <p:cNvPr id="16" name="Shape 12"/>
          <p:cNvSpPr/>
          <p:nvPr/>
        </p:nvSpPr>
        <p:spPr>
          <a:xfrm>
            <a:off x="548640" y="4023360"/>
            <a:ext cx="3063240"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22960" y="4279392"/>
            <a:ext cx="640080" cy="640080"/>
          </a:xfrm>
          <a:prstGeom prst="ellipse">
            <a:avLst/>
          </a:prstGeom>
          <a:solidFill>
            <a:srgbClr val="16335C"/>
          </a:solidFill>
          <a:ln w="12700">
            <a:solidFill>
              <a:srgbClr val="16335C"/>
            </a:solidFill>
            <a:prstDash val="solid"/>
          </a:ln>
        </p:spPr>
      </p:sp>
      <p:pic>
        <p:nvPicPr>
          <p:cNvPr id="18" name="Image 2" descr="preencoded.png">    </p:cNvPr>
          <p:cNvPicPr>
            <a:picLocks noChangeAspect="1"/>
          </p:cNvPicPr>
          <p:nvPr/>
        </p:nvPicPr>
        <p:blipFill>
          <a:blip r:embed="rId3"/>
          <a:stretch>
            <a:fillRect/>
          </a:stretch>
        </p:blipFill>
        <p:spPr>
          <a:xfrm>
            <a:off x="1002182" y="4458614"/>
            <a:ext cx="281635" cy="281635"/>
          </a:xfrm>
          <a:prstGeom prst="rect">
            <a:avLst/>
          </a:prstGeom>
        </p:spPr>
      </p:pic>
      <p:sp>
        <p:nvSpPr>
          <p:cNvPr id="19" name="Text 14"/>
          <p:cNvSpPr txBox="1"/>
          <p:nvPr/>
        </p:nvSpPr>
        <p:spPr>
          <a:xfrm>
            <a:off x="822960" y="5029200"/>
            <a:ext cx="2560320" cy="32004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Small businesses</a:t>
            </a:r>
            <a:endParaRPr lang="en-US" sz="1600" dirty="0"/>
          </a:p>
        </p:txBody>
      </p:sp>
      <p:sp>
        <p:nvSpPr>
          <p:cNvPr id="20" name="Text 15"/>
          <p:cNvSpPr txBox="1"/>
          <p:nvPr/>
        </p:nvSpPr>
        <p:spPr>
          <a:xfrm>
            <a:off x="822960" y="5376672"/>
            <a:ext cx="2560320" cy="594360"/>
          </a:xfrm>
          <a:prstGeom prst="rect">
            <a:avLst/>
          </a:prstGeom>
          <a:noFill/>
          <a:ln/>
        </p:spPr>
        <p:txBody>
          <a:bodyPr wrap="square" lIns="0" tIns="0" rIns="0" bIns="0" rtlCol="0" anchor="t"/>
          <a:lstStyle/>
          <a:p>
            <a:pPr indent="0" marL="0">
              <a:buNone/>
            </a:pPr>
            <a:r>
              <a:rPr lang="en-US" sz="1350" dirty="0">
                <a:solidFill>
                  <a:srgbClr val="1B2A41"/>
                </a:solidFill>
                <a:latin typeface="Calibri" pitchFamily="34" charset="0"/>
                <a:ea typeface="Calibri" pitchFamily="34" charset="-122"/>
                <a:cs typeface="Calibri" pitchFamily="34" charset="-120"/>
              </a:rPr>
              <a:t>Spot fake invoices and payment scams quickly.</a:t>
            </a:r>
            <a:endParaRPr lang="en-US" sz="1350" dirty="0"/>
          </a:p>
        </p:txBody>
      </p:sp>
      <p:sp>
        <p:nvSpPr>
          <p:cNvPr id="21" name="Shape 16"/>
          <p:cNvSpPr/>
          <p:nvPr/>
        </p:nvSpPr>
        <p:spPr>
          <a:xfrm>
            <a:off x="3886200" y="4023360"/>
            <a:ext cx="3063240"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2" name="Shape 17"/>
          <p:cNvSpPr/>
          <p:nvPr/>
        </p:nvSpPr>
        <p:spPr>
          <a:xfrm>
            <a:off x="4160520" y="4279392"/>
            <a:ext cx="640080" cy="640080"/>
          </a:xfrm>
          <a:prstGeom prst="ellipse">
            <a:avLst/>
          </a:prstGeom>
          <a:solidFill>
            <a:srgbClr val="D93F45"/>
          </a:solidFill>
          <a:ln w="12700">
            <a:solidFill>
              <a:srgbClr val="D93F45"/>
            </a:solidFill>
            <a:prstDash val="solid"/>
          </a:ln>
        </p:spPr>
      </p:sp>
      <p:pic>
        <p:nvPicPr>
          <p:cNvPr id="23" name="Image 3" descr="preencoded.png">    </p:cNvPr>
          <p:cNvPicPr>
            <a:picLocks noChangeAspect="1"/>
          </p:cNvPicPr>
          <p:nvPr/>
        </p:nvPicPr>
        <p:blipFill>
          <a:blip r:embed="rId4"/>
          <a:stretch>
            <a:fillRect/>
          </a:stretch>
        </p:blipFill>
        <p:spPr>
          <a:xfrm>
            <a:off x="4339742" y="4458614"/>
            <a:ext cx="281635" cy="281635"/>
          </a:xfrm>
          <a:prstGeom prst="rect">
            <a:avLst/>
          </a:prstGeom>
        </p:spPr>
      </p:pic>
      <p:sp>
        <p:nvSpPr>
          <p:cNvPr id="24" name="Text 18"/>
          <p:cNvSpPr txBox="1"/>
          <p:nvPr/>
        </p:nvSpPr>
        <p:spPr>
          <a:xfrm>
            <a:off x="4160520" y="5029200"/>
            <a:ext cx="2560320" cy="32004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Families</a:t>
            </a:r>
            <a:endParaRPr lang="en-US" sz="1600" dirty="0"/>
          </a:p>
        </p:txBody>
      </p:sp>
      <p:sp>
        <p:nvSpPr>
          <p:cNvPr id="25" name="Text 19"/>
          <p:cNvSpPr txBox="1"/>
          <p:nvPr/>
        </p:nvSpPr>
        <p:spPr>
          <a:xfrm>
            <a:off x="4160520" y="5376672"/>
            <a:ext cx="2560320" cy="594360"/>
          </a:xfrm>
          <a:prstGeom prst="rect">
            <a:avLst/>
          </a:prstGeom>
          <a:noFill/>
          <a:ln/>
        </p:spPr>
        <p:txBody>
          <a:bodyPr wrap="square" lIns="0" tIns="0" rIns="0" bIns="0" rtlCol="0" anchor="t"/>
          <a:lstStyle/>
          <a:p>
            <a:pPr indent="0" marL="0">
              <a:buNone/>
            </a:pPr>
            <a:r>
              <a:rPr lang="en-US" sz="1350" dirty="0">
                <a:solidFill>
                  <a:srgbClr val="1B2A41"/>
                </a:solidFill>
                <a:latin typeface="Calibri" pitchFamily="34" charset="0"/>
                <a:ea typeface="Calibri" pitchFamily="34" charset="-122"/>
                <a:cs typeface="Calibri" pitchFamily="34" charset="-120"/>
              </a:rPr>
              <a:t>Help everyone at home stay safer online.</a:t>
            </a:r>
            <a:endParaRPr lang="en-US" sz="1350" dirty="0"/>
          </a:p>
        </p:txBody>
      </p:sp>
      <p:sp>
        <p:nvSpPr>
          <p:cNvPr id="26" name="Shape 20"/>
          <p:cNvSpPr/>
          <p:nvPr/>
        </p:nvSpPr>
        <p:spPr>
          <a:xfrm>
            <a:off x="7360920" y="1691640"/>
            <a:ext cx="4297680" cy="4343400"/>
          </a:xfrm>
          <a:prstGeom prst="roundRect">
            <a:avLst>
              <a:gd name="adj" fmla="val 2553"/>
            </a:avLst>
          </a:prstGeom>
          <a:solidFill>
            <a:srgbClr val="0B1F3A"/>
          </a:solidFill>
          <a:ln w="12700">
            <a:solidFill>
              <a:srgbClr val="0B1F3A"/>
            </a:solidFill>
            <a:prstDash val="solid"/>
          </a:ln>
          <a:effectLst>
            <a:outerShdw sx="100000" sy="100000" kx="0" ky="0" algn="bl" rotWithShape="0" blurRad="101600" dist="25400" dir="5400000">
              <a:srgbClr val="000000">
                <a:alpha val="12000"/>
              </a:srgbClr>
            </a:outerShdw>
          </a:effectLst>
        </p:spPr>
      </p:sp>
      <p:sp>
        <p:nvSpPr>
          <p:cNvPr id="27" name="Text 21"/>
          <p:cNvSpPr txBox="1"/>
          <p:nvPr/>
        </p:nvSpPr>
        <p:spPr>
          <a:xfrm>
            <a:off x="7726680" y="1965960"/>
            <a:ext cx="356616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How we measure success</a:t>
            </a:r>
            <a:endParaRPr lang="en-US" sz="2200" dirty="0"/>
          </a:p>
        </p:txBody>
      </p:sp>
      <p:sp>
        <p:nvSpPr>
          <p:cNvPr id="28" name="Text 22"/>
          <p:cNvSpPr txBox="1"/>
          <p:nvPr/>
        </p:nvSpPr>
        <p:spPr>
          <a:xfrm>
            <a:off x="7726680" y="2697480"/>
            <a:ext cx="3611880" cy="3108960"/>
          </a:xfrm>
          <a:prstGeom prst="rect">
            <a:avLst/>
          </a:prstGeom>
          <a:noFill/>
          <a:ln/>
        </p:spPr>
        <p:txBody>
          <a:bodyPr wrap="square" lIns="0" tIns="0" rIns="0" bIns="0" rtlCol="0" anchor="t"/>
          <a:lstStyle/>
          <a:p>
            <a:pPr indent="0" marL="0">
              <a:buNone/>
            </a:pPr>
            <a:r>
              <a:rPr lang="en-US" sz="1800" b="1" dirty="0">
                <a:solidFill>
                  <a:srgbClr val="F5B700"/>
                </a:solidFill>
                <a:latin typeface="Calibri" pitchFamily="34" charset="0"/>
                <a:ea typeface="Calibri" pitchFamily="34" charset="-122"/>
                <a:cs typeface="Calibri" pitchFamily="34" charset="-120"/>
              </a:rPr>
              <a:t>Awareness gain</a:t>
            </a:r>
            <a:endParaRPr lang="en-US" sz="1800" dirty="0"/>
          </a:p>
          <a:p>
            <a:pPr indent="0" marL="0">
              <a:buNone/>
            </a:pPr>
            <a:r>
              <a:rPr lang="en-US" sz="1500" dirty="0">
                <a:solidFill>
                  <a:srgbClr val="CADCFC"/>
                </a:solidFill>
                <a:latin typeface="Calibri" pitchFamily="34" charset="0"/>
                <a:ea typeface="Calibri" pitchFamily="34" charset="-122"/>
                <a:cs typeface="Calibri" pitchFamily="34" charset="-120"/>
              </a:rPr>
              <a:t>Quiz scores before and after using the app.</a:t>
            </a:r>
            <a:endParaRPr lang="en-US" sz="1800" dirty="0"/>
          </a:p>
          <a:p>
            <a:pPr indent="0" marL="0">
              <a:buNone/>
            </a:pPr>
            <a:r>
              <a:rPr lang="en-US" sz="14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rgbClr val="F5B700"/>
                </a:solidFill>
                <a:latin typeface="Calibri" pitchFamily="34" charset="0"/>
                <a:ea typeface="Calibri" pitchFamily="34" charset="-122"/>
                <a:cs typeface="Calibri" pitchFamily="34" charset="-120"/>
              </a:rPr>
              <a:t>Safer actions</a:t>
            </a:r>
            <a:endParaRPr lang="en-US" sz="1800" dirty="0"/>
          </a:p>
          <a:p>
            <a:pPr indent="0" marL="0">
              <a:buNone/>
            </a:pPr>
            <a:r>
              <a:rPr lang="en-US" sz="1500" dirty="0">
                <a:solidFill>
                  <a:srgbClr val="CADCFC"/>
                </a:solidFill>
                <a:latin typeface="Calibri" pitchFamily="34" charset="0"/>
                <a:ea typeface="Calibri" pitchFamily="34" charset="-122"/>
                <a:cs typeface="Calibri" pitchFamily="34" charset="-120"/>
              </a:rPr>
              <a:t>Risky messages checked and users who avoid clicking them.</a:t>
            </a:r>
            <a:endParaRPr lang="en-US" sz="1800" dirty="0"/>
          </a:p>
          <a:p>
            <a:pPr indent="0" marL="0">
              <a:buNone/>
            </a:pPr>
            <a:r>
              <a:rPr lang="en-US" sz="14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rgbClr val="F5B700"/>
                </a:solidFill>
                <a:latin typeface="Calibri" pitchFamily="34" charset="0"/>
                <a:ea typeface="Calibri" pitchFamily="34" charset="-122"/>
                <a:cs typeface="Calibri" pitchFamily="34" charset="-120"/>
              </a:rPr>
              <a:t>Understanding</a:t>
            </a:r>
            <a:endParaRPr lang="en-US" sz="1800" dirty="0"/>
          </a:p>
          <a:p>
            <a:pPr indent="0" marL="0">
              <a:buNone/>
            </a:pPr>
            <a:r>
              <a:rPr lang="en-US" sz="1500" dirty="0">
                <a:solidFill>
                  <a:srgbClr val="CADCFC"/>
                </a:solidFill>
                <a:latin typeface="Calibri" pitchFamily="34" charset="0"/>
                <a:ea typeface="Calibri" pitchFamily="34" charset="-122"/>
                <a:cs typeface="Calibri" pitchFamily="34" charset="-120"/>
              </a:rPr>
              <a:t>Feedback such as "I understood why it was risky".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320040"/>
          </a:xfrm>
          <a:prstGeom prst="rect">
            <a:avLst/>
          </a:prstGeom>
          <a:noFill/>
          <a:ln/>
        </p:spPr>
        <p:txBody>
          <a:bodyPr wrap="square" lIns="0" tIns="0" rIns="0" bIns="0" rtlCol="0" anchor="ctr"/>
          <a:lstStyle/>
          <a:p>
            <a:pPr indent="0" marL="0">
              <a:buNone/>
            </a:pPr>
            <a:r>
              <a:rPr lang="en-US" sz="1300" b="1" spc="300" kern="0" dirty="0">
                <a:solidFill>
                  <a:srgbClr val="F5B700"/>
                </a:solidFill>
                <a:latin typeface="Calibri" pitchFamily="34" charset="0"/>
                <a:ea typeface="Calibri" pitchFamily="34" charset="-122"/>
                <a:cs typeface="Calibri" pitchFamily="34" charset="-120"/>
              </a:rPr>
              <a:t>ALIGNS WITH</a:t>
            </a:r>
            <a:endParaRPr lang="en-US" sz="1300" dirty="0"/>
          </a:p>
        </p:txBody>
      </p:sp>
      <p:sp>
        <p:nvSpPr>
          <p:cNvPr id="3" name="Text 1"/>
          <p:cNvSpPr txBox="1"/>
          <p:nvPr/>
        </p:nvSpPr>
        <p:spPr>
          <a:xfrm>
            <a:off x="548640" y="1508760"/>
            <a:ext cx="694944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Security + AI convergence</a:t>
            </a:r>
            <a:endParaRPr lang="en-US" sz="4400" dirty="0"/>
          </a:p>
        </p:txBody>
      </p:sp>
      <p:sp>
        <p:nvSpPr>
          <p:cNvPr id="4" name="Text 2"/>
          <p:cNvSpPr txBox="1"/>
          <p:nvPr/>
        </p:nvSpPr>
        <p:spPr>
          <a:xfrm>
            <a:off x="548640" y="2651760"/>
            <a:ext cx="6583680" cy="118872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AI Financial Literacy Advisor uses AI where security fails most often, the moment a person has to decide, and turns complex threats into clear, actionable guidance.</a:t>
            </a:r>
            <a:endParaRPr lang="en-US" sz="1800" dirty="0"/>
          </a:p>
        </p:txBody>
      </p:sp>
      <p:sp>
        <p:nvSpPr>
          <p:cNvPr id="5" name="Shape 3"/>
          <p:cNvSpPr/>
          <p:nvPr/>
        </p:nvSpPr>
        <p:spPr>
          <a:xfrm>
            <a:off x="548640" y="4114800"/>
            <a:ext cx="1920240" cy="548640"/>
          </a:xfrm>
          <a:prstGeom prst="roundRect">
            <a:avLst>
              <a:gd name="adj" fmla="val 50000"/>
            </a:avLst>
          </a:prstGeom>
          <a:solidFill>
            <a:srgbClr val="00A896"/>
          </a:solidFill>
          <a:ln w="12700">
            <a:solidFill>
              <a:srgbClr val="00A896"/>
            </a:solidFill>
            <a:prstDash val="solid"/>
          </a:ln>
        </p:spPr>
      </p:sp>
      <p:sp>
        <p:nvSpPr>
          <p:cNvPr id="6" name="Text 4"/>
          <p:cNvSpPr txBox="1"/>
          <p:nvPr/>
        </p:nvSpPr>
        <p:spPr>
          <a:xfrm>
            <a:off x="548640" y="4114800"/>
            <a:ext cx="19202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Detect</a:t>
            </a:r>
            <a:endParaRPr lang="en-US" sz="1700" dirty="0"/>
          </a:p>
        </p:txBody>
      </p:sp>
      <p:sp>
        <p:nvSpPr>
          <p:cNvPr id="7" name="Shape 5"/>
          <p:cNvSpPr/>
          <p:nvPr/>
        </p:nvSpPr>
        <p:spPr>
          <a:xfrm>
            <a:off x="2743200" y="4114800"/>
            <a:ext cx="1920240" cy="548640"/>
          </a:xfrm>
          <a:prstGeom prst="roundRect">
            <a:avLst>
              <a:gd name="adj" fmla="val 50000"/>
            </a:avLst>
          </a:prstGeom>
          <a:solidFill>
            <a:srgbClr val="C99700"/>
          </a:solidFill>
          <a:ln w="12700">
            <a:solidFill>
              <a:srgbClr val="C99700"/>
            </a:solidFill>
            <a:prstDash val="solid"/>
          </a:ln>
        </p:spPr>
      </p:sp>
      <p:sp>
        <p:nvSpPr>
          <p:cNvPr id="8" name="Text 6"/>
          <p:cNvSpPr txBox="1"/>
          <p:nvPr/>
        </p:nvSpPr>
        <p:spPr>
          <a:xfrm>
            <a:off x="2743200" y="4114800"/>
            <a:ext cx="19202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Explain</a:t>
            </a:r>
            <a:endParaRPr lang="en-US" sz="1700" dirty="0"/>
          </a:p>
        </p:txBody>
      </p:sp>
      <p:sp>
        <p:nvSpPr>
          <p:cNvPr id="9" name="Shape 7"/>
          <p:cNvSpPr/>
          <p:nvPr/>
        </p:nvSpPr>
        <p:spPr>
          <a:xfrm>
            <a:off x="4937760" y="4114800"/>
            <a:ext cx="1920240" cy="548640"/>
          </a:xfrm>
          <a:prstGeom prst="roundRect">
            <a:avLst>
              <a:gd name="adj" fmla="val 50000"/>
            </a:avLst>
          </a:prstGeom>
          <a:solidFill>
            <a:srgbClr val="16335C"/>
          </a:solidFill>
          <a:ln w="19050">
            <a:solidFill>
              <a:srgbClr val="00A896"/>
            </a:solidFill>
            <a:prstDash val="solid"/>
          </a:ln>
        </p:spPr>
      </p:sp>
      <p:sp>
        <p:nvSpPr>
          <p:cNvPr id="10" name="Text 8"/>
          <p:cNvSpPr txBox="1"/>
          <p:nvPr/>
        </p:nvSpPr>
        <p:spPr>
          <a:xfrm>
            <a:off x="4937760" y="4114800"/>
            <a:ext cx="19202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Educate</a:t>
            </a:r>
            <a:endParaRPr lang="en-US" sz="1700" dirty="0"/>
          </a:p>
        </p:txBody>
      </p:sp>
      <p:sp>
        <p:nvSpPr>
          <p:cNvPr id="11" name="Text 9"/>
          <p:cNvSpPr txBox="1"/>
          <p:nvPr/>
        </p:nvSpPr>
        <p:spPr>
          <a:xfrm>
            <a:off x="548640" y="5212080"/>
            <a:ext cx="54864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Thank you</a:t>
            </a:r>
            <a:endParaRPr lang="en-US" sz="3200" dirty="0"/>
          </a:p>
        </p:txBody>
      </p:sp>
      <p:sp>
        <p:nvSpPr>
          <p:cNvPr id="12" name="Text 10"/>
          <p:cNvSpPr txBox="1"/>
          <p:nvPr/>
        </p:nvSpPr>
        <p:spPr>
          <a:xfrm>
            <a:off x="548640" y="5852160"/>
            <a:ext cx="5486400" cy="3657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Making every user a safer user.</a:t>
            </a:r>
            <a:endParaRPr lang="en-US" sz="1600" dirty="0"/>
          </a:p>
        </p:txBody>
      </p:sp>
      <p:sp>
        <p:nvSpPr>
          <p:cNvPr id="13" name="Shape 11"/>
          <p:cNvSpPr/>
          <p:nvPr/>
        </p:nvSpPr>
        <p:spPr>
          <a:xfrm>
            <a:off x="8046720" y="1463040"/>
            <a:ext cx="3474720" cy="3474720"/>
          </a:xfrm>
          <a:prstGeom prst="ellipse">
            <a:avLst/>
          </a:prstGeom>
          <a:solidFill>
            <a:srgbClr val="16335C"/>
          </a:solidFill>
          <a:ln w="25400">
            <a:solidFill>
              <a:srgbClr val="00A896"/>
            </a:solidFill>
            <a:prstDash val="solid"/>
          </a:ln>
        </p:spPr>
      </p:sp>
      <p:pic>
        <p:nvPicPr>
          <p:cNvPr id="14" name="Image 0" descr="preencoded.png">    </p:cNvPr>
          <p:cNvPicPr>
            <a:picLocks noChangeAspect="1"/>
          </p:cNvPicPr>
          <p:nvPr/>
        </p:nvPicPr>
        <p:blipFill>
          <a:blip r:embed="rId1"/>
          <a:stretch>
            <a:fillRect/>
          </a:stretch>
        </p:blipFill>
        <p:spPr>
          <a:xfrm>
            <a:off x="9006840" y="2423160"/>
            <a:ext cx="1554480" cy="1554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Financial Literacy Advisor</dc:title>
  <dc:subject>PptxGenJS Presentation</dc:subject>
  <dc:creator>PptxGenJS</dc:creator>
  <cp:lastModifiedBy>PptxGenJS</cp:lastModifiedBy>
  <cp:revision>1</cp:revision>
  <dcterms:created xsi:type="dcterms:W3CDTF">2026-09-19T09:39:03Z</dcterms:created>
  <dcterms:modified xsi:type="dcterms:W3CDTF">2026-09-19T09:39:03Z</dcterms:modified>
</cp:coreProperties>
</file>